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6" r:id="rId9"/>
    <p:sldId id="268" r:id="rId17"/>
    <p:sldId id="269" r:id="rId18"/>
    <p:sldId id="264" r:id="rId8"/>
    <p:sldId id="267"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  <Relationship Id="rId17" Type="http://schemas.openxmlformats.org/officeDocument/2006/relationships/slide" Target="slides/slide10.xml"/>
  <Relationship Id="rId18" Type="http://schemas.openxmlformats.org/officeDocument/2006/relationships/slide" Target="slides/slide11.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Palavalasa" userId="3179a3642b1cd732" providerId="LiveId" clId="{34E54D38-4592-42EE-A0C3-694A8B6D1094}"/>
    <pc:docChg chg="custSel delSld modSld">
      <pc:chgData name="Rahul Palavalasa" userId="3179a3642b1cd732" providerId="LiveId" clId="{34E54D38-4592-42EE-A0C3-694A8B6D1094}" dt="2026-08-19T10:04:36.665" v="15" actId="20577"/>
      <pc:docMkLst>
        <pc:docMk/>
      </pc:docMkLst>
      <pc:sldChg chg="delSp modSp mod">
        <pc:chgData name="Rahul Palavalasa" userId="3179a3642b1cd732" providerId="LiveId" clId="{34E54D38-4592-42EE-A0C3-694A8B6D1094}" dt="2026-08-19T10:04:36.665" v="15" actId="20577"/>
        <pc:sldMkLst>
          <pc:docMk/>
          <pc:sldMk cId="0" sldId="256"/>
        </pc:sldMkLst>
        <pc:spChg chg="mod">
          <ac:chgData name="Rahul Palavalasa" userId="3179a3642b1cd732" providerId="LiveId" clId="{34E54D38-4592-42EE-A0C3-694A8B6D1094}" dt="2026-08-19T09:55:38.414" v="13" actId="20577"/>
          <ac:spMkLst>
            <pc:docMk/>
            <pc:sldMk cId="0" sldId="256"/>
            <ac:spMk id="4" creationId="{00000000-0000-0000-0000-000000000000}"/>
          </ac:spMkLst>
        </pc:spChg>
        <pc:spChg chg="del">
          <ac:chgData name="Rahul Palavalasa" userId="3179a3642b1cd732" providerId="LiveId" clId="{34E54D38-4592-42EE-A0C3-694A8B6D1094}" dt="2026-08-19T09:55:28.888" v="12" actId="478"/>
          <ac:spMkLst>
            <pc:docMk/>
            <pc:sldMk cId="0" sldId="256"/>
            <ac:spMk id="5" creationId="{00000000-0000-0000-0000-000000000000}"/>
          </ac:spMkLst>
        </pc:spChg>
        <pc:spChg chg="mod">
          <ac:chgData name="Rahul Palavalasa" userId="3179a3642b1cd732" providerId="LiveId" clId="{34E54D38-4592-42EE-A0C3-694A8B6D1094}" dt="2026-08-19T09:55:20.481" v="11" actId="20577"/>
          <ac:spMkLst>
            <pc:docMk/>
            <pc:sldMk cId="0" sldId="256"/>
            <ac:spMk id="7" creationId="{00000000-0000-0000-0000-000000000000}"/>
          </ac:spMkLst>
        </pc:spChg>
        <pc:spChg chg="mod">
          <ac:chgData name="Rahul Palavalasa" userId="3179a3642b1cd732" providerId="LiveId" clId="{34E54D38-4592-42EE-A0C3-694A8B6D1094}" dt="2026-08-19T10:04:36.665" v="15" actId="20577"/>
          <ac:spMkLst>
            <pc:docMk/>
            <pc:sldMk cId="0" sldId="256"/>
            <ac:spMk id="9" creationId="{00000000-0000-0000-0000-000000000000}"/>
          </ac:spMkLst>
        </pc:spChg>
        <pc:spChg chg="mod">
          <ac:chgData name="Rahul Palavalasa" userId="3179a3642b1cd732" providerId="LiveId" clId="{34E54D38-4592-42EE-A0C3-694A8B6D1094}" dt="2026-08-19T09:55:07.798" v="10" actId="20577"/>
          <ac:spMkLst>
            <pc:docMk/>
            <pc:sldMk cId="0" sldId="256"/>
            <ac:spMk id="11" creationId="{00000000-0000-0000-0000-000000000000}"/>
          </ac:spMkLst>
        </pc:spChg>
        <pc:picChg chg="del">
          <ac:chgData name="Rahul Palavalasa" userId="3179a3642b1cd732" providerId="LiveId" clId="{34E54D38-4592-42EE-A0C3-694A8B6D1094}" dt="2026-08-19T09:55:28.888" v="12" actId="478"/>
          <ac:picMkLst>
            <pc:docMk/>
            <pc:sldMk cId="0" sldId="256"/>
            <ac:picMk id="6" creationId="{00000000-0000-0000-0000-000000000000}"/>
          </ac:picMkLst>
        </pc:picChg>
      </pc:sldChg>
      <pc:sldChg chg="delSp mod">
        <pc:chgData name="Rahul Palavalasa" userId="3179a3642b1cd732" providerId="LiveId" clId="{34E54D38-4592-42EE-A0C3-694A8B6D1094}" dt="2026-08-19T10:00:04.319" v="14" actId="478"/>
        <pc:sldMkLst>
          <pc:docMk/>
          <pc:sldMk cId="0" sldId="258"/>
        </pc:sldMkLst>
        <pc:spChg chg="del">
          <ac:chgData name="Rahul Palavalasa" userId="3179a3642b1cd732" providerId="LiveId" clId="{34E54D38-4592-42EE-A0C3-694A8B6D1094}" dt="2026-08-19T10:00:04.319" v="14" actId="478"/>
          <ac:spMkLst>
            <pc:docMk/>
            <pc:sldMk cId="0" sldId="258"/>
            <ac:spMk id="36" creationId="{00000000-0000-0000-0000-000000000000}"/>
          </ac:spMkLst>
        </pc:spChg>
      </pc:sldChg>
      <pc:sldChg chg="modSp mod">
        <pc:chgData name="Rahul Palavalasa" userId="3179a3642b1cd732" providerId="LiveId" clId="{34E54D38-4592-42EE-A0C3-694A8B6D1094}" dt="2026-08-19T09:45:00.496" v="0" actId="1036"/>
        <pc:sldMkLst>
          <pc:docMk/>
          <pc:sldMk cId="0" sldId="259"/>
        </pc:sldMkLst>
        <pc:spChg chg="mod">
          <ac:chgData name="Rahul Palavalasa" userId="3179a3642b1cd732" providerId="LiveId" clId="{34E54D38-4592-42EE-A0C3-694A8B6D1094}" dt="2026-08-19T09:45:00.496" v="0" actId="1036"/>
          <ac:spMkLst>
            <pc:docMk/>
            <pc:sldMk cId="0" sldId="259"/>
            <ac:spMk id="7" creationId="{00000000-0000-0000-0000-000000000000}"/>
          </ac:spMkLst>
        </pc:spChg>
      </pc:sldChg>
      <pc:sldChg chg="del">
        <pc:chgData name="Rahul Palavalasa" userId="3179a3642b1cd732" providerId="LiveId" clId="{34E54D38-4592-42EE-A0C3-694A8B6D1094}" dt="2026-08-19T09:46:10.042" v="1" actId="47"/>
        <pc:sldMkLst>
          <pc:docMk/>
          <pc:sldMk cId="0" sldId="262"/>
        </pc:sldMkLst>
      </pc:sldChg>
      <pc:sldChg chg="del">
        <pc:chgData name="Rahul Palavalasa" userId="3179a3642b1cd732" providerId="LiveId" clId="{34E54D38-4592-42EE-A0C3-694A8B6D1094}" dt="2026-08-19T09:46:17.222" v="2" actId="47"/>
        <pc:sldMkLst>
          <pc:docMk/>
          <pc:sldMk cId="0" sldId="263"/>
        </pc:sldMkLst>
      </pc:sldChg>
      <pc:sldChg chg="del">
        <pc:chgData name="Rahul Palavalasa" userId="3179a3642b1cd732" providerId="LiveId" clId="{34E54D38-4592-42EE-A0C3-694A8B6D1094}" dt="2026-08-19T09:47:08.900" v="3" actId="47"/>
        <pc:sldMkLst>
          <pc:docMk/>
          <pc:sldMk cId="0"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2021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We are presenting our project, the Hospital Management &amp; Appointment System, built for the Database Systems Engineering and Distributed Backend Development course. I am [Student 1] and this is my teammate [Student 2]. Let's begin with the project abstract.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is a web-based platform designed to make hospital services more organized, accessible and efficient. Today many hospitals handle registration, appointments, records, billing, pharmacy and lab work through separate or manual systems. Our system brings all of these onto one integrated platform for patients, doctors and admin staff.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hospital systems face several problems: manual paperwork, long waiting times, difficulty managing appointments, data entry errors, and poor coordination between departments like billing, pharmacy and the lab. In short, hospitals need one connected system instead of several disconnected ones — and that's the gap our project addresses.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existing approach, a patient typically moves through reception, the doctor, billing, and then pharmacy or lab, with records handled at the end — largely through manual, disconnected steps. This causes data duplication, delays, and makes it hard to retrieve records or monitor hospital activity centrally.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system connects every stage — patient registration, appointment and token management, doctor access to EMR, billing and insurance, pharmacy and inventory, laboratory, and an admin dashboard — into a single centralized workflow, so data flows smoothly between modules instead of staying siloed.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system is structured in layers: patients, doctors and admins interact through the React.js frontend, which talks to our Node.js/Express backend over REST APIs secured with JWT. The backend reads and writes to our MySQL database through Sequelize, and Twilio handles outgoing SMS notifications.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this system is expected to reduce paperwork, cut down waiting time, minimise data entry errors, and improve coordination between departments — giving patients faster access to their information and giving hospital staff an easier, more organized way to manage daily operations.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Hospital Management &amp; Appointment System offers a centralized, efficient way to manage hospital operations. In the future, this could be extended with a dedicated mobile app, an analytics dashboard, telemedicine support, and richer automated notifications. Thank you — we're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9.png"/><Relationship Id="rId4" Type="http://schemas.openxmlformats.org/officeDocument/2006/relationships/image" Target="../media/image8.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0.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30.png"/><Relationship Id="rId5" Type="http://schemas.openxmlformats.org/officeDocument/2006/relationships/image" Target="../media/image13.png"/><Relationship Id="rId10" Type="http://schemas.openxmlformats.org/officeDocument/2006/relationships/image" Target="../media/image29.png"/><Relationship Id="rId4" Type="http://schemas.openxmlformats.org/officeDocument/2006/relationships/image" Target="../media/image11.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2.png"/><Relationship Id="rId7"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4.png"/><Relationship Id="rId10" Type="http://schemas.openxmlformats.org/officeDocument/2006/relationships/image" Target="../media/image17.png"/><Relationship Id="rId4" Type="http://schemas.openxmlformats.org/officeDocument/2006/relationships/image" Target="../media/image23.png"/><Relationship Id="rId9"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423D"/>
        </a:solidFill>
        <a:effectLst/>
      </p:bgPr>
    </p:bg>
    <p:spTree>
      <p:nvGrpSpPr>
        <p:cNvPr id="1" name=""/>
        <p:cNvGrpSpPr/>
        <p:nvPr/>
      </p:nvGrpSpPr>
      <p:grpSpPr>
        <a:xfrm>
          <a:off x="0" y="0"/>
          <a:ext cx="0" cy="0"/>
          <a:chOff x="0" y="0"/>
          <a:chExt cx="0" cy="0"/>
        </a:xfrm>
      </p:grpSpPr>
      <p:sp>
        <p:nvSpPr>
          <p:cNvPr id="2" name="Shape 0"/>
          <p:cNvSpPr/>
          <p:nvPr/>
        </p:nvSpPr>
        <p:spPr>
          <a:xfrm>
            <a:off x="9418320" y="-1280160"/>
            <a:ext cx="4754880" cy="4754880"/>
          </a:xfrm>
          <a:prstGeom prst="ellipse">
            <a:avLst/>
          </a:prstGeom>
          <a:solidFill>
            <a:srgbClr val="0E756B">
              <a:alpha val="45000"/>
            </a:srgbClr>
          </a:solidFill>
          <a:ln/>
        </p:spPr>
      </p:sp>
      <p:sp>
        <p:nvSpPr>
          <p:cNvPr id="3" name="Shape 1"/>
          <p:cNvSpPr/>
          <p:nvPr/>
        </p:nvSpPr>
        <p:spPr>
          <a:xfrm>
            <a:off x="10607040" y="4206240"/>
            <a:ext cx="3291840" cy="3291840"/>
          </a:xfrm>
          <a:prstGeom prst="ellipse">
            <a:avLst/>
          </a:prstGeom>
          <a:solidFill>
            <a:srgbClr val="E2643E">
              <a:alpha val="22000"/>
            </a:srgbClr>
          </a:solidFill>
          <a:ln/>
        </p:spPr>
      </p:sp>
      <p:sp>
        <p:nvSpPr>
          <p:cNvPr id="4" name="Text 2"/>
          <p:cNvSpPr/>
          <p:nvPr/>
        </p:nvSpPr>
        <p:spPr>
          <a:xfrm>
            <a:off x="640080" y="502920"/>
            <a:ext cx="9601200" cy="274320"/>
          </a:xfrm>
          <a:prstGeom prst="rect">
            <a:avLst/>
          </a:prstGeom>
          <a:noFill/>
          <a:ln/>
        </p:spPr>
        <p:txBody>
          <a:bodyPr wrap="square" lIns="0" tIns="0" rIns="0" bIns="0" rtlCol="0" anchor="ctr"/>
          <a:lstStyle/>
          <a:p>
            <a:pPr marL="0" indent="0">
              <a:buNone/>
            </a:pPr>
            <a:endParaRPr lang="en-US" sz="1100" dirty="0"/>
          </a:p>
        </p:txBody>
      </p:sp>
      <p:sp>
        <p:nvSpPr>
          <p:cNvPr id="7" name="Text 4"/>
          <p:cNvSpPr/>
          <p:nvPr/>
        </p:nvSpPr>
        <p:spPr>
          <a:xfrm>
            <a:off x="640080" y="2057400"/>
            <a:ext cx="8686800" cy="320040"/>
          </a:xfrm>
          <a:prstGeom prst="rect">
            <a:avLst/>
          </a:prstGeom>
          <a:noFill/>
          <a:ln/>
        </p:spPr>
        <p:txBody>
          <a:bodyPr wrap="square" lIns="0" tIns="0" rIns="0" bIns="0" rtlCol="0" anchor="ctr"/>
          <a:lstStyle/>
          <a:p>
            <a:pPr marL="0" indent="0">
              <a:buNone/>
            </a:pPr>
            <a:endParaRPr lang="en-US" sz="1200" dirty="0"/>
          </a:p>
        </p:txBody>
      </p:sp>
      <p:sp>
        <p:nvSpPr>
          <p:cNvPr id="8" name="Text 5"/>
          <p:cNvSpPr/>
          <p:nvPr/>
        </p:nvSpPr>
        <p:spPr>
          <a:xfrm>
            <a:off x="621792" y="2395728"/>
            <a:ext cx="9692640" cy="173736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Hospital Management &amp;</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Appointment System</a:t>
            </a:r>
            <a:endParaRPr lang="en-US" sz="4400" dirty="0"/>
          </a:p>
        </p:txBody>
      </p:sp>
      <p:sp>
        <p:nvSpPr>
          <p:cNvPr id="9" name="Text 6"/>
          <p:cNvSpPr/>
          <p:nvPr/>
        </p:nvSpPr>
        <p:spPr>
          <a:xfrm>
            <a:off x="640080" y="4160520"/>
            <a:ext cx="8686800" cy="365760"/>
          </a:xfrm>
          <a:prstGeom prst="rect">
            <a:avLst/>
          </a:prstGeom>
          <a:noFill/>
          <a:ln/>
        </p:spPr>
        <p:txBody>
          <a:bodyPr wrap="square" lIns="0" tIns="0" rIns="0" bIns="0" rtlCol="0" anchor="ctr"/>
          <a:lstStyle/>
          <a:p>
            <a:pPr marL="0" indent="0">
              <a:buNone/>
            </a:pPr>
            <a:endParaRPr lang="en-US" sz="1400" dirty="0"/>
          </a:p>
        </p:txBody>
      </p:sp>
      <p:sp>
        <p:nvSpPr>
          <p:cNvPr id="10" name="Shape 7"/>
          <p:cNvSpPr/>
          <p:nvPr/>
        </p:nvSpPr>
        <p:spPr>
          <a:xfrm>
            <a:off x="640080" y="4800600"/>
            <a:ext cx="6766560" cy="1417320"/>
          </a:xfrm>
          <a:prstGeom prst="roundRect">
            <a:avLst>
              <a:gd name="adj" fmla="val 6452"/>
            </a:avLst>
          </a:prstGeom>
          <a:solidFill>
            <a:srgbClr val="0E756B">
              <a:alpha val="75000"/>
            </a:srgbClr>
          </a:solidFill>
          <a:ln w="12700">
            <a:solidFill>
              <a:srgbClr val="2E8478"/>
            </a:solidFill>
            <a:prstDash val="solid"/>
          </a:ln>
        </p:spPr>
      </p:sp>
      <p:sp>
        <p:nvSpPr>
          <p:cNvPr id="11" name="Text 8"/>
          <p:cNvSpPr/>
          <p:nvPr/>
        </p:nvSpPr>
        <p:spPr>
          <a:xfrm>
            <a:off x="868680" y="4937760"/>
            <a:ext cx="6309360" cy="256032"/>
          </a:xfrm>
          <a:prstGeom prst="rect">
            <a:avLst/>
          </a:prstGeom>
          <a:noFill/>
          <a:ln/>
        </p:spPr>
        <p:txBody>
          <a:bodyPr wrap="square" lIns="0" tIns="0" rIns="0" bIns="0" rtlCol="0" anchor="ctr"/>
          <a:lstStyle/>
          <a:p>
            <a:pPr marL="0" indent="0">
              <a:buNone/>
            </a:pPr>
            <a:endParaRPr lang="en-US" sz="1050" dirty="0"/>
          </a:p>
        </p:txBody>
      </p:sp>
      <p:sp>
        <p:nvSpPr>
          <p:cNvPr id="12" name="Text 9"/>
          <p:cNvSpPr/>
          <p:nvPr/>
        </p:nvSpPr>
        <p:spPr>
          <a:xfrm>
            <a:off x="868680" y="5257800"/>
            <a:ext cx="1417320" cy="320040"/>
          </a:xfrm>
          <a:prstGeom prst="rect">
            <a:avLst/>
          </a:prstGeom>
          <a:noFill/>
          <a:ln/>
        </p:spPr>
        <p:txBody>
          <a:bodyPr wrap="square" lIns="0" tIns="0" rIns="0" bIns="0" rtlCol="0" anchor="ctr"/>
          <a:lstStyle/>
          <a:p>
            <a:pPr marL="0" indent="0">
              <a:buNone/>
            </a:pPr>
            <a:r>
              <a:rPr lang="en-US" sz="1300" dirty="0">
                <a:solidFill>
                  <a:srgbClr val="BFE0DA"/>
                </a:solidFill>
                <a:latin typeface="Calibri" pitchFamily="34" charset="0"/>
                <a:ea typeface="Calibri" pitchFamily="34" charset="-122"/>
                <a:cs typeface="Calibri" pitchFamily="34" charset="-120"/>
              </a:rPr>
              <a:t>2520090016</a:t>
            </a:r>
            <a:endParaRPr lang="en-US" sz="1300" dirty="0"/>
          </a:p>
        </p:txBody>
      </p:sp>
      <p:sp>
        <p:nvSpPr>
          <p:cNvPr id="13" name="Text 10"/>
          <p:cNvSpPr/>
          <p:nvPr/>
        </p:nvSpPr>
        <p:spPr>
          <a:xfrm>
            <a:off x="2331720" y="5257800"/>
            <a:ext cx="41148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 Rahul</a:t>
            </a:r>
            <a:endParaRPr lang="en-US" sz="1450" dirty="0"/>
          </a:p>
        </p:txBody>
      </p:sp>
      <p:sp>
        <p:nvSpPr>
          <p:cNvPr id="14" name="Text 11"/>
          <p:cNvSpPr/>
          <p:nvPr/>
        </p:nvSpPr>
        <p:spPr>
          <a:xfrm>
            <a:off x="868680" y="5696712"/>
            <a:ext cx="1417320" cy="320040"/>
          </a:xfrm>
          <a:prstGeom prst="rect">
            <a:avLst/>
          </a:prstGeom>
          <a:noFill/>
          <a:ln/>
        </p:spPr>
        <p:txBody>
          <a:bodyPr wrap="square" lIns="0" tIns="0" rIns="0" bIns="0" rtlCol="0" anchor="ctr"/>
          <a:lstStyle/>
          <a:p>
            <a:pPr marL="0" indent="0">
              <a:buNone/>
            </a:pPr>
            <a:r>
              <a:rPr lang="en-US" sz="1300" dirty="0">
                <a:solidFill>
                  <a:srgbClr val="BFE0DA"/>
                </a:solidFill>
                <a:latin typeface="Calibri" pitchFamily="34" charset="0"/>
                <a:ea typeface="Calibri" pitchFamily="34" charset="-122"/>
                <a:cs typeface="Calibri" pitchFamily="34" charset="-120"/>
              </a:rPr>
              <a:t>2520080005</a:t>
            </a:r>
            <a:endParaRPr lang="en-US" sz="1300" dirty="0"/>
          </a:p>
        </p:txBody>
      </p:sp>
      <p:sp>
        <p:nvSpPr>
          <p:cNvPr id="15" name="Text 12"/>
          <p:cNvSpPr/>
          <p:nvPr/>
        </p:nvSpPr>
        <p:spPr>
          <a:xfrm>
            <a:off x="2331720" y="5696712"/>
            <a:ext cx="411480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 Lakshmi Sai Teja</a:t>
            </a:r>
            <a:endParaRPr lang="en-US" sz="1450" dirty="0"/>
          </a:p>
        </p:txBody>
      </p:sp>
      <p:sp>
        <p:nvSpPr>
          <p:cNvPr id="16" name="Text 13"/>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BFE0DA"/>
                </a:solidFill>
                <a:latin typeface="Calibri" pitchFamily="34" charset="0"/>
                <a:ea typeface="Calibri" pitchFamily="34" charset="-122"/>
                <a:cs typeface="Calibri" pitchFamily="34" charset="-120"/>
              </a:rPr>
              <a:t>Hospital Management &amp; Appointment System</a:t>
            </a:r>
            <a:endParaRPr lang="en-US" sz="900" dirty="0"/>
          </a:p>
        </p:txBody>
      </p:sp>
      <p:sp>
        <p:nvSpPr>
          <p:cNvPr id="17" name="Text 1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BFE0DA"/>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endParaRPr lang="en-US" sz="1200" dirty="0"/>
          </a:p>
        </p:txBody>
      </p:sp>
      <p:sp>
        <p:nvSpPr>
          <p:cNvPr id="3" name="Text 1"/>
          <p:cNvSpPr/>
          <p:nvPr/>
        </p:nvSpPr>
        <p:spPr>
          <a:xfrm>
            <a:off x="548640" y="621792"/>
            <a:ext cx="9875520" cy="685800"/>
          </a:xfrm>
          <a:prstGeom prst="rect">
            <a:avLst/>
          </a:prstGeom>
          <a:noFill/>
          <a:ln/>
        </p:spPr>
        <p:txBody>
          <a:bodyPr wrap="square" lIns="0" tIns="0" rIns="0" bIns="0" rtlCol="0" anchor="ctr"/>
          <a:lstStyle/>
          <a:p>
            <a:pPr marL="0" indent="0">
              <a:buNone/>
            </a:pPr>
            <a:r>
              <a:rPr lang="en-US" sz="3200" b="1" dirty="0">
                <a:solidFill>
                  <a:srgbClr val="07423D"/>
                </a:solidFill>
                <a:latin typeface="Cambria" pitchFamily="34" charset="0"/>
                <a:ea typeface="Cambria" pitchFamily="34" charset="-122"/>
                <a:cs typeface="Cambria" pitchFamily="34" charset="-120"/>
              </a:rPr>
              <a:t>Project Abstract</a:t>
            </a:r>
            <a:endParaRPr lang="en-US" sz="3200" dirty="0"/>
          </a:p>
        </p:txBody>
      </p:sp>
      <p:sp>
        <p:nvSpPr>
          <p:cNvPr id="4" name="Text 2"/>
          <p:cNvSpPr/>
          <p:nvPr/>
        </p:nvSpPr>
        <p:spPr>
          <a:xfrm>
            <a:off x="548640" y="1417320"/>
            <a:ext cx="5577840" cy="2926080"/>
          </a:xfrm>
          <a:prstGeom prst="rect">
            <a:avLst/>
          </a:prstGeom>
          <a:noFill/>
          <a:ln/>
        </p:spPr>
        <p:txBody>
          <a:bodyPr wrap="square" lIns="0" tIns="0" rIns="0" bIns="0" rtlCol="0" anchor="t"/>
          <a:lstStyle/>
          <a:p>
            <a:pPr marL="177800" indent="-177800">
              <a:lnSpc>
                <a:spcPct val="110000"/>
              </a:lnSpc>
              <a:spcAft>
                <a:spcPts val="1100"/>
              </a:spcAft>
              <a:buSzPct val="100000"/>
              <a:buChar char="▪"/>
            </a:pPr>
            <a:r>
              <a:rPr lang="en-US" sz="1350" dirty="0">
                <a:solidFill>
                  <a:srgbClr val="15302C"/>
                </a:solidFill>
                <a:latin typeface="Calibri" pitchFamily="34" charset="0"/>
                <a:ea typeface="Calibri" pitchFamily="34" charset="-122"/>
                <a:cs typeface="Calibri" pitchFamily="34" charset="-120"/>
              </a:rPr>
              <a:t>A single web-based platform that brings hospital operations together for patients and staff</a:t>
            </a:r>
            <a:endParaRPr lang="en-US" sz="1350" dirty="0"/>
          </a:p>
          <a:p>
            <a:pPr marL="177800" indent="-177800">
              <a:lnSpc>
                <a:spcPct val="110000"/>
              </a:lnSpc>
              <a:spcAft>
                <a:spcPts val="1100"/>
              </a:spcAft>
              <a:buSzPct val="100000"/>
              <a:buChar char="▪"/>
            </a:pPr>
            <a:r>
              <a:rPr lang="en-US" sz="1350" dirty="0">
                <a:solidFill>
                  <a:srgbClr val="15302C"/>
                </a:solidFill>
                <a:latin typeface="Calibri" pitchFamily="34" charset="0"/>
                <a:ea typeface="Calibri" pitchFamily="34" charset="-122"/>
                <a:cs typeface="Calibri" pitchFamily="34" charset="-120"/>
              </a:rPr>
              <a:t>Today, registration, appointments, records, billing, pharmacy and lab work often run on separate or manual processes</a:t>
            </a:r>
            <a:endParaRPr lang="en-US" sz="1350" dirty="0"/>
          </a:p>
          <a:p>
            <a:pPr marL="177800" indent="-177800">
              <a:lnSpc>
                <a:spcPct val="110000"/>
              </a:lnSpc>
              <a:spcAft>
                <a:spcPts val="1100"/>
              </a:spcAft>
              <a:buSzPct val="100000"/>
              <a:buChar char="▪"/>
            </a:pPr>
            <a:r>
              <a:rPr lang="en-US" sz="1350" dirty="0">
                <a:solidFill>
                  <a:srgbClr val="15302C"/>
                </a:solidFill>
                <a:latin typeface="Calibri" pitchFamily="34" charset="0"/>
                <a:ea typeface="Calibri" pitchFamily="34" charset="-122"/>
                <a:cs typeface="Calibri" pitchFamily="34" charset="-120"/>
              </a:rPr>
              <a:t>This causes delays, errors and poor coordination between departments</a:t>
            </a:r>
            <a:endParaRPr lang="en-US" sz="1350" dirty="0"/>
          </a:p>
          <a:p>
            <a:pPr marL="177800" indent="-177800">
              <a:lnSpc>
                <a:spcPct val="110000"/>
              </a:lnSpc>
              <a:spcAft>
                <a:spcPts val="1100"/>
              </a:spcAft>
              <a:buSzPct val="100000"/>
              <a:buChar char="▪"/>
            </a:pPr>
            <a:r>
              <a:rPr lang="en-US" sz="1350" dirty="0">
                <a:solidFill>
                  <a:srgbClr val="15302C"/>
                </a:solidFill>
                <a:latin typeface="Calibri" pitchFamily="34" charset="0"/>
                <a:ea typeface="Calibri" pitchFamily="34" charset="-122"/>
                <a:cs typeface="Calibri" pitchFamily="34" charset="-120"/>
              </a:rPr>
              <a:t>Patients can register, book appointments, and track status online</a:t>
            </a:r>
            <a:endParaRPr lang="en-US" sz="1350" dirty="0"/>
          </a:p>
          <a:p>
            <a:pPr marL="177800" indent="-177800">
              <a:lnSpc>
                <a:spcPct val="110000"/>
              </a:lnSpc>
              <a:spcAft>
                <a:spcPts val="1100"/>
              </a:spcAft>
              <a:buSzPct val="100000"/>
              <a:buChar char="▪"/>
            </a:pPr>
            <a:r>
              <a:rPr lang="en-US" sz="1350" dirty="0">
                <a:solidFill>
                  <a:srgbClr val="15302C"/>
                </a:solidFill>
                <a:latin typeface="Calibri" pitchFamily="34" charset="0"/>
                <a:ea typeface="Calibri" pitchFamily="34" charset="-122"/>
                <a:cs typeface="Calibri" pitchFamily="34" charset="-120"/>
              </a:rPr>
              <a:t>Doctors manage schedules and access Electronic Medical Records (EMR)</a:t>
            </a:r>
            <a:endParaRPr lang="en-US" sz="1350" dirty="0"/>
          </a:p>
          <a:p>
            <a:pPr marL="177800" indent="-177800">
              <a:lnSpc>
                <a:spcPct val="110000"/>
              </a:lnSpc>
              <a:spcAft>
                <a:spcPts val="1100"/>
              </a:spcAft>
              <a:buSzPct val="100000"/>
              <a:buChar char="▪"/>
            </a:pPr>
            <a:r>
              <a:rPr lang="en-US" sz="1350" dirty="0">
                <a:solidFill>
                  <a:srgbClr val="15302C"/>
                </a:solidFill>
                <a:latin typeface="Calibri" pitchFamily="34" charset="0"/>
                <a:ea typeface="Calibri" pitchFamily="34" charset="-122"/>
                <a:cs typeface="Calibri" pitchFamily="34" charset="-120"/>
              </a:rPr>
              <a:t>Goal: reduce paperwork, save time, minimise errors, and improve coordination</a:t>
            </a:r>
            <a:endParaRPr lang="en-US" sz="1350" dirty="0"/>
          </a:p>
        </p:txBody>
      </p:sp>
      <p:sp>
        <p:nvSpPr>
          <p:cNvPr id="5" name="Shape 3"/>
          <p:cNvSpPr/>
          <p:nvPr/>
        </p:nvSpPr>
        <p:spPr>
          <a:xfrm>
            <a:off x="6446520" y="1417320"/>
            <a:ext cx="5212080" cy="2971800"/>
          </a:xfrm>
          <a:prstGeom prst="roundRect">
            <a:avLst>
              <a:gd name="adj" fmla="val 3077"/>
            </a:avLst>
          </a:prstGeom>
          <a:solidFill>
            <a:srgbClr val="EDF6F4"/>
          </a:solidFill>
          <a:ln w="12700">
            <a:solidFill>
              <a:srgbClr val="D3E9E5"/>
            </a:solidFill>
            <a:prstDash val="solid"/>
          </a:ln>
        </p:spPr>
      </p:sp>
      <p:sp>
        <p:nvSpPr>
          <p:cNvPr id="6" name="Shape 4"/>
          <p:cNvSpPr/>
          <p:nvPr/>
        </p:nvSpPr>
        <p:spPr>
          <a:xfrm>
            <a:off x="6720840" y="1691640"/>
            <a:ext cx="548640" cy="548640"/>
          </a:xfrm>
          <a:prstGeom prst="ellipse">
            <a:avLst/>
          </a:prstGeom>
          <a:solidFill>
            <a:srgbClr val="FFFFFF"/>
          </a:solidFill>
          <a:ln/>
        </p:spPr>
      </p:sp>
      <p:pic>
        <p:nvPicPr>
          <p:cNvPr id="7" name="Image 0" descr="preencoded.png"/>
          <p:cNvPicPr>
            <a:picLocks noChangeAspect="1"/>
          </p:cNvPicPr>
          <p:nvPr/>
        </p:nvPicPr>
        <p:blipFill>
          <a:blip r:embed="rId3"/>
          <a:stretch>
            <a:fillRect/>
          </a:stretch>
        </p:blipFill>
        <p:spPr>
          <a:xfrm>
            <a:off x="6830568" y="1801368"/>
            <a:ext cx="329184" cy="329184"/>
          </a:xfrm>
          <a:prstGeom prst="rect">
            <a:avLst/>
          </a:prstGeom>
        </p:spPr>
      </p:pic>
      <p:sp>
        <p:nvSpPr>
          <p:cNvPr id="8" name="Text 5"/>
          <p:cNvSpPr/>
          <p:nvPr/>
        </p:nvSpPr>
        <p:spPr>
          <a:xfrm>
            <a:off x="7406640" y="1691640"/>
            <a:ext cx="4023360" cy="548640"/>
          </a:xfrm>
          <a:prstGeom prst="rect">
            <a:avLst/>
          </a:prstGeom>
          <a:noFill/>
          <a:ln/>
        </p:spPr>
        <p:txBody>
          <a:bodyPr wrap="square" lIns="0" tIns="0" rIns="0" bIns="0" rtlCol="0" anchor="ctr"/>
          <a:lstStyle/>
          <a:p>
            <a:pPr marL="0" indent="0">
              <a:buNone/>
            </a:pPr>
            <a:r>
              <a:rPr lang="en-US" sz="1500" b="1" dirty="0">
                <a:solidFill>
                  <a:srgbClr val="07423D"/>
                </a:solidFill>
                <a:latin typeface="Cambria" pitchFamily="34" charset="0"/>
                <a:ea typeface="Cambria" pitchFamily="34" charset="-122"/>
                <a:cs typeface="Cambria" pitchFamily="34" charset="-120"/>
              </a:rPr>
              <a:t>One platform. Every department.</a:t>
            </a:r>
            <a:endParaRPr lang="en-US" sz="1500" dirty="0"/>
          </a:p>
        </p:txBody>
      </p:sp>
      <p:sp>
        <p:nvSpPr>
          <p:cNvPr id="9" name="Text 6"/>
          <p:cNvSpPr/>
          <p:nvPr/>
        </p:nvSpPr>
        <p:spPr>
          <a:xfrm>
            <a:off x="6720840" y="2331720"/>
            <a:ext cx="4663440" cy="640080"/>
          </a:xfrm>
          <a:prstGeom prst="rect">
            <a:avLst/>
          </a:prstGeom>
          <a:noFill/>
          <a:ln/>
        </p:spPr>
        <p:txBody>
          <a:bodyPr wrap="square" lIns="0" tIns="0" rIns="0" bIns="0" rtlCol="0" anchor="ctr"/>
          <a:lstStyle/>
          <a:p>
            <a:pPr marL="0" indent="0">
              <a:buNone/>
            </a:pPr>
            <a:r>
              <a:rPr lang="en-US" sz="1150" i="1" dirty="0">
                <a:solidFill>
                  <a:srgbClr val="54706B"/>
                </a:solidFill>
                <a:latin typeface="Calibri" pitchFamily="34" charset="0"/>
                <a:ea typeface="Calibri" pitchFamily="34" charset="-122"/>
                <a:cs typeface="Calibri" pitchFamily="34" charset="-120"/>
              </a:rPr>
              <a:t>Built with React.js, Node.js/Express, MySQL (Sequelize), JWT authentication and Twilio notifications.</a:t>
            </a:r>
            <a:endParaRPr lang="en-US" sz="1150" dirty="0"/>
          </a:p>
        </p:txBody>
      </p:sp>
      <p:sp>
        <p:nvSpPr>
          <p:cNvPr id="10" name="Shape 7"/>
          <p:cNvSpPr/>
          <p:nvPr/>
        </p:nvSpPr>
        <p:spPr>
          <a:xfrm>
            <a:off x="6720840" y="3063240"/>
            <a:ext cx="4663440" cy="0"/>
          </a:xfrm>
          <a:prstGeom prst="line">
            <a:avLst/>
          </a:prstGeom>
          <a:noFill/>
          <a:ln w="12700">
            <a:solidFill>
              <a:srgbClr val="D3E9E5"/>
            </a:solidFill>
            <a:prstDash val="solid"/>
          </a:ln>
        </p:spPr>
      </p:sp>
      <p:sp>
        <p:nvSpPr>
          <p:cNvPr id="11" name="Text 8"/>
          <p:cNvSpPr/>
          <p:nvPr/>
        </p:nvSpPr>
        <p:spPr>
          <a:xfrm>
            <a:off x="6720840" y="3246120"/>
            <a:ext cx="4663440" cy="1005840"/>
          </a:xfrm>
          <a:prstGeom prst="rect">
            <a:avLst/>
          </a:prstGeom>
          <a:noFill/>
          <a:ln/>
        </p:spPr>
        <p:txBody>
          <a:bodyPr wrap="square" lIns="0" tIns="0" rIns="0" bIns="0" rtlCol="0" anchor="ctr"/>
          <a:lstStyle/>
          <a:p>
            <a:pPr marL="0" indent="0">
              <a:lnSpc>
                <a:spcPct val="115000"/>
              </a:lnSpc>
              <a:buNone/>
            </a:pPr>
            <a:r>
              <a:rPr lang="en-US" sz="1200" dirty="0">
                <a:solidFill>
                  <a:srgbClr val="15302C"/>
                </a:solidFill>
                <a:latin typeface="Calibri" pitchFamily="34" charset="0"/>
                <a:ea typeface="Calibri" pitchFamily="34" charset="-122"/>
                <a:cs typeface="Calibri" pitchFamily="34" charset="-120"/>
              </a:rPr>
              <a:t>Designed for a simple, convenient experience for patients, doctors and administrators.</a:t>
            </a:r>
            <a:endParaRPr lang="en-US" sz="1200" dirty="0"/>
          </a:p>
        </p:txBody>
      </p:sp>
      <p:sp>
        <p:nvSpPr>
          <p:cNvPr id="12" name="Text 9"/>
          <p:cNvSpPr/>
          <p:nvPr/>
        </p:nvSpPr>
        <p:spPr>
          <a:xfrm>
            <a:off x="548640" y="4526280"/>
            <a:ext cx="5486400" cy="274320"/>
          </a:xfrm>
          <a:prstGeom prst="rect">
            <a:avLst/>
          </a:prstGeom>
          <a:noFill/>
          <a:ln/>
        </p:spPr>
        <p:txBody>
          <a:bodyPr wrap="square" lIns="0" tIns="0" rIns="0" bIns="0" rtlCol="0" anchor="ctr"/>
          <a:lstStyle/>
          <a:p>
            <a:pPr marL="0" indent="0">
              <a:buNone/>
            </a:pPr>
            <a:r>
              <a:rPr lang="en-US" sz="1100" b="1" kern="0" spc="120" dirty="0">
                <a:solidFill>
                  <a:srgbClr val="E2643E"/>
                </a:solidFill>
                <a:latin typeface="Calibri" pitchFamily="34" charset="0"/>
                <a:ea typeface="Calibri" pitchFamily="34" charset="-122"/>
                <a:cs typeface="Calibri" pitchFamily="34" charset="-120"/>
              </a:rPr>
              <a:t>MAJOR AREAS COVERED</a:t>
            </a:r>
            <a:endParaRPr lang="en-US" sz="1100" dirty="0"/>
          </a:p>
        </p:txBody>
      </p:sp>
      <p:sp>
        <p:nvSpPr>
          <p:cNvPr id="13" name="Shape 10"/>
          <p:cNvSpPr/>
          <p:nvPr/>
        </p:nvSpPr>
        <p:spPr>
          <a:xfrm>
            <a:off x="548640" y="4864608"/>
            <a:ext cx="2651760" cy="566928"/>
          </a:xfrm>
          <a:prstGeom prst="roundRect">
            <a:avLst>
              <a:gd name="adj" fmla="val 12903"/>
            </a:avLst>
          </a:prstGeom>
          <a:solidFill>
            <a:srgbClr val="EDF6F4"/>
          </a:solidFill>
          <a:ln w="12700">
            <a:solidFill>
              <a:srgbClr val="D3E9E5"/>
            </a:solidFill>
            <a:prstDash val="solid"/>
          </a:ln>
        </p:spPr>
      </p:sp>
      <p:sp>
        <p:nvSpPr>
          <p:cNvPr id="14" name="Shape 11"/>
          <p:cNvSpPr/>
          <p:nvPr/>
        </p:nvSpPr>
        <p:spPr>
          <a:xfrm>
            <a:off x="658368" y="4974336"/>
            <a:ext cx="347472" cy="347472"/>
          </a:xfrm>
          <a:prstGeom prst="ellipse">
            <a:avLst/>
          </a:prstGeom>
          <a:solidFill>
            <a:srgbClr val="0A5C55"/>
          </a:solidFill>
          <a:ln/>
        </p:spPr>
      </p:sp>
      <p:pic>
        <p:nvPicPr>
          <p:cNvPr id="15" name="Image 1" descr="preencoded.png"/>
          <p:cNvPicPr>
            <a:picLocks noChangeAspect="1"/>
          </p:cNvPicPr>
          <p:nvPr/>
        </p:nvPicPr>
        <p:blipFill>
          <a:blip r:embed="rId4"/>
          <a:stretch>
            <a:fillRect/>
          </a:stretch>
        </p:blipFill>
        <p:spPr>
          <a:xfrm>
            <a:off x="736549" y="5052517"/>
            <a:ext cx="191110" cy="191110"/>
          </a:xfrm>
          <a:prstGeom prst="rect">
            <a:avLst/>
          </a:prstGeom>
        </p:spPr>
      </p:pic>
      <p:sp>
        <p:nvSpPr>
          <p:cNvPr id="16" name="Text 12"/>
          <p:cNvSpPr/>
          <p:nvPr/>
        </p:nvSpPr>
        <p:spPr>
          <a:xfrm>
            <a:off x="1115568" y="4864608"/>
            <a:ext cx="1975104" cy="566928"/>
          </a:xfrm>
          <a:prstGeom prst="rect">
            <a:avLst/>
          </a:prstGeom>
          <a:noFill/>
          <a:ln/>
        </p:spPr>
        <p:txBody>
          <a:bodyPr wrap="square" lIns="0" tIns="0" rIns="0" bIns="0" rtlCol="0" anchor="ctr"/>
          <a:lstStyle/>
          <a:p>
            <a:pPr marL="0" indent="0">
              <a:buNone/>
            </a:pPr>
            <a:r>
              <a:rPr lang="en-US" sz="1050" b="1" dirty="0">
                <a:solidFill>
                  <a:srgbClr val="15302C"/>
                </a:solidFill>
                <a:latin typeface="Calibri" pitchFamily="34" charset="0"/>
                <a:ea typeface="Calibri" pitchFamily="34" charset="-122"/>
                <a:cs typeface="Calibri" pitchFamily="34" charset="-120"/>
              </a:rPr>
              <a:t>Patient Registration</a:t>
            </a:r>
            <a:endParaRPr lang="en-US" sz="1050" dirty="0"/>
          </a:p>
        </p:txBody>
      </p:sp>
      <p:sp>
        <p:nvSpPr>
          <p:cNvPr id="17" name="Shape 13"/>
          <p:cNvSpPr/>
          <p:nvPr/>
        </p:nvSpPr>
        <p:spPr>
          <a:xfrm>
            <a:off x="3291840" y="4864608"/>
            <a:ext cx="2651760" cy="566928"/>
          </a:xfrm>
          <a:prstGeom prst="roundRect">
            <a:avLst>
              <a:gd name="adj" fmla="val 12903"/>
            </a:avLst>
          </a:prstGeom>
          <a:solidFill>
            <a:srgbClr val="EDF6F4"/>
          </a:solidFill>
          <a:ln w="12700">
            <a:solidFill>
              <a:srgbClr val="D3E9E5"/>
            </a:solidFill>
            <a:prstDash val="solid"/>
          </a:ln>
        </p:spPr>
      </p:sp>
      <p:sp>
        <p:nvSpPr>
          <p:cNvPr id="18" name="Shape 14"/>
          <p:cNvSpPr/>
          <p:nvPr/>
        </p:nvSpPr>
        <p:spPr>
          <a:xfrm>
            <a:off x="3401568" y="4974336"/>
            <a:ext cx="347472" cy="347472"/>
          </a:xfrm>
          <a:prstGeom prst="ellipse">
            <a:avLst/>
          </a:prstGeom>
          <a:solidFill>
            <a:srgbClr val="0A5C55"/>
          </a:solidFill>
          <a:ln/>
        </p:spPr>
      </p:sp>
      <p:pic>
        <p:nvPicPr>
          <p:cNvPr id="19" name="Image 2" descr="preencoded.png"/>
          <p:cNvPicPr>
            <a:picLocks noChangeAspect="1"/>
          </p:cNvPicPr>
          <p:nvPr/>
        </p:nvPicPr>
        <p:blipFill>
          <a:blip r:embed="rId5"/>
          <a:stretch>
            <a:fillRect/>
          </a:stretch>
        </p:blipFill>
        <p:spPr>
          <a:xfrm>
            <a:off x="3479749" y="5052517"/>
            <a:ext cx="191110" cy="191110"/>
          </a:xfrm>
          <a:prstGeom prst="rect">
            <a:avLst/>
          </a:prstGeom>
        </p:spPr>
      </p:pic>
      <p:sp>
        <p:nvSpPr>
          <p:cNvPr id="20" name="Text 15"/>
          <p:cNvSpPr/>
          <p:nvPr/>
        </p:nvSpPr>
        <p:spPr>
          <a:xfrm>
            <a:off x="3858768" y="4864608"/>
            <a:ext cx="1975104" cy="566928"/>
          </a:xfrm>
          <a:prstGeom prst="rect">
            <a:avLst/>
          </a:prstGeom>
          <a:noFill/>
          <a:ln/>
        </p:spPr>
        <p:txBody>
          <a:bodyPr wrap="square" lIns="0" tIns="0" rIns="0" bIns="0" rtlCol="0" anchor="ctr"/>
          <a:lstStyle/>
          <a:p>
            <a:pPr marL="0" indent="0">
              <a:buNone/>
            </a:pPr>
            <a:r>
              <a:rPr lang="en-US" sz="1050" b="1" dirty="0">
                <a:solidFill>
                  <a:srgbClr val="15302C"/>
                </a:solidFill>
                <a:latin typeface="Calibri" pitchFamily="34" charset="0"/>
                <a:ea typeface="Calibri" pitchFamily="34" charset="-122"/>
                <a:cs typeface="Calibri" pitchFamily="34" charset="-120"/>
              </a:rPr>
              <a:t>Appointment Booking</a:t>
            </a:r>
            <a:endParaRPr lang="en-US" sz="1050" dirty="0"/>
          </a:p>
        </p:txBody>
      </p:sp>
      <p:sp>
        <p:nvSpPr>
          <p:cNvPr id="21" name="Shape 16"/>
          <p:cNvSpPr/>
          <p:nvPr/>
        </p:nvSpPr>
        <p:spPr>
          <a:xfrm>
            <a:off x="6035040" y="4864608"/>
            <a:ext cx="2651760" cy="566928"/>
          </a:xfrm>
          <a:prstGeom prst="roundRect">
            <a:avLst>
              <a:gd name="adj" fmla="val 12903"/>
            </a:avLst>
          </a:prstGeom>
          <a:solidFill>
            <a:srgbClr val="EDF6F4"/>
          </a:solidFill>
          <a:ln w="12700">
            <a:solidFill>
              <a:srgbClr val="D3E9E5"/>
            </a:solidFill>
            <a:prstDash val="solid"/>
          </a:ln>
        </p:spPr>
      </p:sp>
      <p:sp>
        <p:nvSpPr>
          <p:cNvPr id="22" name="Shape 17"/>
          <p:cNvSpPr/>
          <p:nvPr/>
        </p:nvSpPr>
        <p:spPr>
          <a:xfrm>
            <a:off x="6144768" y="4974336"/>
            <a:ext cx="347472" cy="347472"/>
          </a:xfrm>
          <a:prstGeom prst="ellipse">
            <a:avLst/>
          </a:prstGeom>
          <a:solidFill>
            <a:srgbClr val="0A5C55"/>
          </a:solidFill>
          <a:ln/>
        </p:spPr>
      </p:sp>
      <p:pic>
        <p:nvPicPr>
          <p:cNvPr id="23" name="Image 3" descr="preencoded.png"/>
          <p:cNvPicPr>
            <a:picLocks noChangeAspect="1"/>
          </p:cNvPicPr>
          <p:nvPr/>
        </p:nvPicPr>
        <p:blipFill>
          <a:blip r:embed="rId6"/>
          <a:stretch>
            <a:fillRect/>
          </a:stretch>
        </p:blipFill>
        <p:spPr>
          <a:xfrm>
            <a:off x="6222949" y="5052517"/>
            <a:ext cx="191110" cy="191110"/>
          </a:xfrm>
          <a:prstGeom prst="rect">
            <a:avLst/>
          </a:prstGeom>
        </p:spPr>
      </p:pic>
      <p:sp>
        <p:nvSpPr>
          <p:cNvPr id="24" name="Text 18"/>
          <p:cNvSpPr/>
          <p:nvPr/>
        </p:nvSpPr>
        <p:spPr>
          <a:xfrm>
            <a:off x="6601968" y="4864608"/>
            <a:ext cx="1975104" cy="566928"/>
          </a:xfrm>
          <a:prstGeom prst="rect">
            <a:avLst/>
          </a:prstGeom>
          <a:noFill/>
          <a:ln/>
        </p:spPr>
        <p:txBody>
          <a:bodyPr wrap="square" lIns="0" tIns="0" rIns="0" bIns="0" rtlCol="0" anchor="ctr"/>
          <a:lstStyle/>
          <a:p>
            <a:pPr marL="0" indent="0">
              <a:buNone/>
            </a:pPr>
            <a:r>
              <a:rPr lang="en-US" sz="1050" b="1" dirty="0">
                <a:solidFill>
                  <a:srgbClr val="15302C"/>
                </a:solidFill>
                <a:latin typeface="Calibri" pitchFamily="34" charset="0"/>
                <a:ea typeface="Calibri" pitchFamily="34" charset="-122"/>
                <a:cs typeface="Calibri" pitchFamily="34" charset="-120"/>
              </a:rPr>
              <a:t>Medical Records</a:t>
            </a:r>
            <a:endParaRPr lang="en-US" sz="1050" dirty="0"/>
          </a:p>
        </p:txBody>
      </p:sp>
      <p:sp>
        <p:nvSpPr>
          <p:cNvPr id="25" name="Shape 19"/>
          <p:cNvSpPr/>
          <p:nvPr/>
        </p:nvSpPr>
        <p:spPr>
          <a:xfrm>
            <a:off x="8778240" y="4864608"/>
            <a:ext cx="2651760" cy="566928"/>
          </a:xfrm>
          <a:prstGeom prst="roundRect">
            <a:avLst>
              <a:gd name="adj" fmla="val 12903"/>
            </a:avLst>
          </a:prstGeom>
          <a:solidFill>
            <a:srgbClr val="EDF6F4"/>
          </a:solidFill>
          <a:ln w="12700">
            <a:solidFill>
              <a:srgbClr val="D3E9E5"/>
            </a:solidFill>
            <a:prstDash val="solid"/>
          </a:ln>
        </p:spPr>
      </p:sp>
      <p:sp>
        <p:nvSpPr>
          <p:cNvPr id="26" name="Shape 20"/>
          <p:cNvSpPr/>
          <p:nvPr/>
        </p:nvSpPr>
        <p:spPr>
          <a:xfrm>
            <a:off x="8887968" y="4974336"/>
            <a:ext cx="347472" cy="347472"/>
          </a:xfrm>
          <a:prstGeom prst="ellipse">
            <a:avLst/>
          </a:prstGeom>
          <a:solidFill>
            <a:srgbClr val="0A5C55"/>
          </a:solidFill>
          <a:ln/>
        </p:spPr>
      </p:sp>
      <p:pic>
        <p:nvPicPr>
          <p:cNvPr id="27" name="Image 4" descr="preencoded.png"/>
          <p:cNvPicPr>
            <a:picLocks noChangeAspect="1"/>
          </p:cNvPicPr>
          <p:nvPr/>
        </p:nvPicPr>
        <p:blipFill>
          <a:blip r:embed="rId7"/>
          <a:stretch>
            <a:fillRect/>
          </a:stretch>
        </p:blipFill>
        <p:spPr>
          <a:xfrm>
            <a:off x="8966149" y="5052517"/>
            <a:ext cx="191110" cy="191110"/>
          </a:xfrm>
          <a:prstGeom prst="rect">
            <a:avLst/>
          </a:prstGeom>
        </p:spPr>
      </p:pic>
      <p:sp>
        <p:nvSpPr>
          <p:cNvPr id="28" name="Text 21"/>
          <p:cNvSpPr/>
          <p:nvPr/>
        </p:nvSpPr>
        <p:spPr>
          <a:xfrm>
            <a:off x="9345168" y="4864608"/>
            <a:ext cx="1975104" cy="566928"/>
          </a:xfrm>
          <a:prstGeom prst="rect">
            <a:avLst/>
          </a:prstGeom>
          <a:noFill/>
          <a:ln/>
        </p:spPr>
        <p:txBody>
          <a:bodyPr wrap="square" lIns="0" tIns="0" rIns="0" bIns="0" rtlCol="0" anchor="ctr"/>
          <a:lstStyle/>
          <a:p>
            <a:pPr marL="0" indent="0">
              <a:buNone/>
            </a:pPr>
            <a:r>
              <a:rPr lang="en-US" sz="1050" b="1" dirty="0">
                <a:solidFill>
                  <a:srgbClr val="15302C"/>
                </a:solidFill>
                <a:latin typeface="Calibri" pitchFamily="34" charset="0"/>
                <a:ea typeface="Calibri" pitchFamily="34" charset="-122"/>
                <a:cs typeface="Calibri" pitchFamily="34" charset="-120"/>
              </a:rPr>
              <a:t>Billing</a:t>
            </a:r>
            <a:endParaRPr lang="en-US" sz="1050" dirty="0"/>
          </a:p>
        </p:txBody>
      </p:sp>
      <p:sp>
        <p:nvSpPr>
          <p:cNvPr id="29" name="Shape 22"/>
          <p:cNvSpPr/>
          <p:nvPr/>
        </p:nvSpPr>
        <p:spPr>
          <a:xfrm>
            <a:off x="548640" y="5559552"/>
            <a:ext cx="2651760" cy="566928"/>
          </a:xfrm>
          <a:prstGeom prst="roundRect">
            <a:avLst>
              <a:gd name="adj" fmla="val 12903"/>
            </a:avLst>
          </a:prstGeom>
          <a:solidFill>
            <a:srgbClr val="EDF6F4"/>
          </a:solidFill>
          <a:ln w="12700">
            <a:solidFill>
              <a:srgbClr val="D3E9E5"/>
            </a:solidFill>
            <a:prstDash val="solid"/>
          </a:ln>
        </p:spPr>
      </p:sp>
      <p:sp>
        <p:nvSpPr>
          <p:cNvPr id="30" name="Shape 23"/>
          <p:cNvSpPr/>
          <p:nvPr/>
        </p:nvSpPr>
        <p:spPr>
          <a:xfrm>
            <a:off x="658368" y="5669280"/>
            <a:ext cx="347472" cy="347472"/>
          </a:xfrm>
          <a:prstGeom prst="ellipse">
            <a:avLst/>
          </a:prstGeom>
          <a:solidFill>
            <a:srgbClr val="0A5C55"/>
          </a:solidFill>
          <a:ln/>
        </p:spPr>
      </p:sp>
      <p:pic>
        <p:nvPicPr>
          <p:cNvPr id="31" name="Image 5" descr="preencoded.png"/>
          <p:cNvPicPr>
            <a:picLocks noChangeAspect="1"/>
          </p:cNvPicPr>
          <p:nvPr/>
        </p:nvPicPr>
        <p:blipFill>
          <a:blip r:embed="rId8"/>
          <a:stretch>
            <a:fillRect/>
          </a:stretch>
        </p:blipFill>
        <p:spPr>
          <a:xfrm>
            <a:off x="736549" y="5747461"/>
            <a:ext cx="191110" cy="191110"/>
          </a:xfrm>
          <a:prstGeom prst="rect">
            <a:avLst/>
          </a:prstGeom>
        </p:spPr>
      </p:pic>
      <p:sp>
        <p:nvSpPr>
          <p:cNvPr id="32" name="Text 24"/>
          <p:cNvSpPr/>
          <p:nvPr/>
        </p:nvSpPr>
        <p:spPr>
          <a:xfrm>
            <a:off x="1115568" y="5559552"/>
            <a:ext cx="1975104" cy="566928"/>
          </a:xfrm>
          <a:prstGeom prst="rect">
            <a:avLst/>
          </a:prstGeom>
          <a:noFill/>
          <a:ln/>
        </p:spPr>
        <p:txBody>
          <a:bodyPr wrap="square" lIns="0" tIns="0" rIns="0" bIns="0" rtlCol="0" anchor="ctr"/>
          <a:lstStyle/>
          <a:p>
            <a:pPr marL="0" indent="0">
              <a:buNone/>
            </a:pPr>
            <a:r>
              <a:rPr lang="en-US" sz="1050" b="1" dirty="0">
                <a:solidFill>
                  <a:srgbClr val="15302C"/>
                </a:solidFill>
                <a:latin typeface="Calibri" pitchFamily="34" charset="0"/>
                <a:ea typeface="Calibri" pitchFamily="34" charset="-122"/>
                <a:cs typeface="Calibri" pitchFamily="34" charset="-120"/>
              </a:rPr>
              <a:t>Pharmacy</a:t>
            </a:r>
            <a:endParaRPr lang="en-US" sz="1050" dirty="0"/>
          </a:p>
        </p:txBody>
      </p:sp>
      <p:sp>
        <p:nvSpPr>
          <p:cNvPr id="33" name="Shape 25"/>
          <p:cNvSpPr/>
          <p:nvPr/>
        </p:nvSpPr>
        <p:spPr>
          <a:xfrm>
            <a:off x="3291840" y="5559552"/>
            <a:ext cx="2651760" cy="566928"/>
          </a:xfrm>
          <a:prstGeom prst="roundRect">
            <a:avLst>
              <a:gd name="adj" fmla="val 12903"/>
            </a:avLst>
          </a:prstGeom>
          <a:solidFill>
            <a:srgbClr val="EDF6F4"/>
          </a:solidFill>
          <a:ln w="12700">
            <a:solidFill>
              <a:srgbClr val="D3E9E5"/>
            </a:solidFill>
            <a:prstDash val="solid"/>
          </a:ln>
        </p:spPr>
      </p:sp>
      <p:sp>
        <p:nvSpPr>
          <p:cNvPr id="34" name="Shape 26"/>
          <p:cNvSpPr/>
          <p:nvPr/>
        </p:nvSpPr>
        <p:spPr>
          <a:xfrm>
            <a:off x="3401568" y="5669280"/>
            <a:ext cx="347472" cy="347472"/>
          </a:xfrm>
          <a:prstGeom prst="ellipse">
            <a:avLst/>
          </a:prstGeom>
          <a:solidFill>
            <a:srgbClr val="0A5C55"/>
          </a:solidFill>
          <a:ln/>
        </p:spPr>
      </p:sp>
      <p:pic>
        <p:nvPicPr>
          <p:cNvPr id="35" name="Image 6" descr="preencoded.png"/>
          <p:cNvPicPr>
            <a:picLocks noChangeAspect="1"/>
          </p:cNvPicPr>
          <p:nvPr/>
        </p:nvPicPr>
        <p:blipFill>
          <a:blip r:embed="rId9"/>
          <a:stretch>
            <a:fillRect/>
          </a:stretch>
        </p:blipFill>
        <p:spPr>
          <a:xfrm>
            <a:off x="3479749" y="5747461"/>
            <a:ext cx="191110" cy="191110"/>
          </a:xfrm>
          <a:prstGeom prst="rect">
            <a:avLst/>
          </a:prstGeom>
        </p:spPr>
      </p:pic>
      <p:sp>
        <p:nvSpPr>
          <p:cNvPr id="36" name="Text 27"/>
          <p:cNvSpPr/>
          <p:nvPr/>
        </p:nvSpPr>
        <p:spPr>
          <a:xfrm>
            <a:off x="3858768" y="5559552"/>
            <a:ext cx="1975104" cy="566928"/>
          </a:xfrm>
          <a:prstGeom prst="rect">
            <a:avLst/>
          </a:prstGeom>
          <a:noFill/>
          <a:ln/>
        </p:spPr>
        <p:txBody>
          <a:bodyPr wrap="square" lIns="0" tIns="0" rIns="0" bIns="0" rtlCol="0" anchor="ctr"/>
          <a:lstStyle/>
          <a:p>
            <a:pPr marL="0" indent="0">
              <a:buNone/>
            </a:pPr>
            <a:r>
              <a:rPr lang="en-US" sz="1050" b="1" dirty="0">
                <a:solidFill>
                  <a:srgbClr val="15302C"/>
                </a:solidFill>
                <a:latin typeface="Calibri" pitchFamily="34" charset="0"/>
                <a:ea typeface="Calibri" pitchFamily="34" charset="-122"/>
                <a:cs typeface="Calibri" pitchFamily="34" charset="-120"/>
              </a:rPr>
              <a:t>Laboratory Reports</a:t>
            </a:r>
            <a:endParaRPr lang="en-US" sz="1050" dirty="0"/>
          </a:p>
        </p:txBody>
      </p:sp>
      <p:sp>
        <p:nvSpPr>
          <p:cNvPr id="37" name="Shape 28"/>
          <p:cNvSpPr/>
          <p:nvPr/>
        </p:nvSpPr>
        <p:spPr>
          <a:xfrm>
            <a:off x="6035040" y="5559552"/>
            <a:ext cx="2651760" cy="566928"/>
          </a:xfrm>
          <a:prstGeom prst="roundRect">
            <a:avLst>
              <a:gd name="adj" fmla="val 12903"/>
            </a:avLst>
          </a:prstGeom>
          <a:solidFill>
            <a:srgbClr val="EDF6F4"/>
          </a:solidFill>
          <a:ln w="12700">
            <a:solidFill>
              <a:srgbClr val="D3E9E5"/>
            </a:solidFill>
            <a:prstDash val="solid"/>
          </a:ln>
        </p:spPr>
      </p:sp>
      <p:sp>
        <p:nvSpPr>
          <p:cNvPr id="38" name="Shape 29"/>
          <p:cNvSpPr/>
          <p:nvPr/>
        </p:nvSpPr>
        <p:spPr>
          <a:xfrm>
            <a:off x="6144768" y="5669280"/>
            <a:ext cx="347472" cy="347472"/>
          </a:xfrm>
          <a:prstGeom prst="ellipse">
            <a:avLst/>
          </a:prstGeom>
          <a:solidFill>
            <a:srgbClr val="0A5C55"/>
          </a:solidFill>
          <a:ln/>
        </p:spPr>
      </p:sp>
      <p:pic>
        <p:nvPicPr>
          <p:cNvPr id="39" name="Image 7" descr="preencoded.png"/>
          <p:cNvPicPr>
            <a:picLocks noChangeAspect="1"/>
          </p:cNvPicPr>
          <p:nvPr/>
        </p:nvPicPr>
        <p:blipFill>
          <a:blip r:embed="rId10"/>
          <a:stretch>
            <a:fillRect/>
          </a:stretch>
        </p:blipFill>
        <p:spPr>
          <a:xfrm>
            <a:off x="6222949" y="5747461"/>
            <a:ext cx="191110" cy="191110"/>
          </a:xfrm>
          <a:prstGeom prst="rect">
            <a:avLst/>
          </a:prstGeom>
        </p:spPr>
      </p:pic>
      <p:sp>
        <p:nvSpPr>
          <p:cNvPr id="40" name="Text 30"/>
          <p:cNvSpPr/>
          <p:nvPr/>
        </p:nvSpPr>
        <p:spPr>
          <a:xfrm>
            <a:off x="6601968" y="5559552"/>
            <a:ext cx="1975104" cy="566928"/>
          </a:xfrm>
          <a:prstGeom prst="rect">
            <a:avLst/>
          </a:prstGeom>
          <a:noFill/>
          <a:ln/>
        </p:spPr>
        <p:txBody>
          <a:bodyPr wrap="square" lIns="0" tIns="0" rIns="0" bIns="0" rtlCol="0" anchor="ctr"/>
          <a:lstStyle/>
          <a:p>
            <a:pPr marL="0" indent="0">
              <a:buNone/>
            </a:pPr>
            <a:r>
              <a:rPr lang="en-US" sz="1050" b="1" dirty="0">
                <a:solidFill>
                  <a:srgbClr val="15302C"/>
                </a:solidFill>
                <a:latin typeface="Calibri" pitchFamily="34" charset="0"/>
                <a:ea typeface="Calibri" pitchFamily="34" charset="-122"/>
                <a:cs typeface="Calibri" pitchFamily="34" charset="-120"/>
              </a:rPr>
              <a:t>Token / Queue Mgmt</a:t>
            </a:r>
            <a:endParaRPr lang="en-US" sz="1050" dirty="0"/>
          </a:p>
        </p:txBody>
      </p:sp>
      <p:sp>
        <p:nvSpPr>
          <p:cNvPr id="41" name="Shape 31"/>
          <p:cNvSpPr/>
          <p:nvPr/>
        </p:nvSpPr>
        <p:spPr>
          <a:xfrm>
            <a:off x="8778240" y="5559552"/>
            <a:ext cx="2651760" cy="566928"/>
          </a:xfrm>
          <a:prstGeom prst="roundRect">
            <a:avLst>
              <a:gd name="adj" fmla="val 12903"/>
            </a:avLst>
          </a:prstGeom>
          <a:solidFill>
            <a:srgbClr val="EDF6F4"/>
          </a:solidFill>
          <a:ln w="12700">
            <a:solidFill>
              <a:srgbClr val="D3E9E5"/>
            </a:solidFill>
            <a:prstDash val="solid"/>
          </a:ln>
        </p:spPr>
      </p:sp>
      <p:sp>
        <p:nvSpPr>
          <p:cNvPr id="42" name="Shape 32"/>
          <p:cNvSpPr/>
          <p:nvPr/>
        </p:nvSpPr>
        <p:spPr>
          <a:xfrm>
            <a:off x="8887968" y="5669280"/>
            <a:ext cx="347472" cy="347472"/>
          </a:xfrm>
          <a:prstGeom prst="ellipse">
            <a:avLst/>
          </a:prstGeom>
          <a:solidFill>
            <a:srgbClr val="0A5C55"/>
          </a:solidFill>
          <a:ln/>
        </p:spPr>
      </p:sp>
      <p:pic>
        <p:nvPicPr>
          <p:cNvPr id="43" name="Image 8" descr="preencoded.png"/>
          <p:cNvPicPr>
            <a:picLocks noChangeAspect="1"/>
          </p:cNvPicPr>
          <p:nvPr/>
        </p:nvPicPr>
        <p:blipFill>
          <a:blip r:embed="rId11"/>
          <a:stretch>
            <a:fillRect/>
          </a:stretch>
        </p:blipFill>
        <p:spPr>
          <a:xfrm>
            <a:off x="8966149" y="5747461"/>
            <a:ext cx="191110" cy="191110"/>
          </a:xfrm>
          <a:prstGeom prst="rect">
            <a:avLst/>
          </a:prstGeom>
        </p:spPr>
      </p:pic>
      <p:sp>
        <p:nvSpPr>
          <p:cNvPr id="44" name="Text 33"/>
          <p:cNvSpPr/>
          <p:nvPr/>
        </p:nvSpPr>
        <p:spPr>
          <a:xfrm>
            <a:off x="9345168" y="5559552"/>
            <a:ext cx="1975104" cy="566928"/>
          </a:xfrm>
          <a:prstGeom prst="rect">
            <a:avLst/>
          </a:prstGeom>
          <a:noFill/>
          <a:ln/>
        </p:spPr>
        <p:txBody>
          <a:bodyPr wrap="square" lIns="0" tIns="0" rIns="0" bIns="0" rtlCol="0" anchor="ctr"/>
          <a:lstStyle/>
          <a:p>
            <a:pPr marL="0" indent="0">
              <a:buNone/>
            </a:pPr>
            <a:r>
              <a:rPr lang="en-US" sz="1050" b="1" dirty="0">
                <a:solidFill>
                  <a:srgbClr val="15302C"/>
                </a:solidFill>
                <a:latin typeface="Calibri" pitchFamily="34" charset="0"/>
                <a:ea typeface="Calibri" pitchFamily="34" charset="-122"/>
                <a:cs typeface="Calibri" pitchFamily="34" charset="-120"/>
              </a:rPr>
              <a:t>Admin Management</a:t>
            </a:r>
            <a:endParaRPr lang="en-US" sz="1050" dirty="0"/>
          </a:p>
        </p:txBody>
      </p:sp>
      <p:sp>
        <p:nvSpPr>
          <p:cNvPr id="45" name="Text 34"/>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54706B"/>
                </a:solidFill>
                <a:latin typeface="Calibri" pitchFamily="34" charset="0"/>
                <a:ea typeface="Calibri" pitchFamily="34" charset="-122"/>
                <a:cs typeface="Calibri" pitchFamily="34" charset="-120"/>
              </a:rPr>
              <a:t>Hospital Management &amp; Appointment System</a:t>
            </a:r>
            <a:endParaRPr lang="en-US" sz="900" dirty="0"/>
          </a:p>
        </p:txBody>
      </p:sp>
      <p:sp>
        <p:nvSpPr>
          <p:cNvPr id="46" name="Text 35"/>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4706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2643E"/>
                </a:solidFill>
                <a:latin typeface="Calibri" pitchFamily="34" charset="0"/>
                <a:ea typeface="Calibri" pitchFamily="34" charset="-122"/>
                <a:cs typeface="Calibri" pitchFamily="34" charset="-120"/>
              </a:rPr>
              <a:t>WHY THIS PROJECT</a:t>
            </a:r>
            <a:endParaRPr lang="en-US" sz="1200" dirty="0"/>
          </a:p>
        </p:txBody>
      </p:sp>
      <p:sp>
        <p:nvSpPr>
          <p:cNvPr id="3" name="Text 1"/>
          <p:cNvSpPr/>
          <p:nvPr/>
        </p:nvSpPr>
        <p:spPr>
          <a:xfrm>
            <a:off x="548640" y="621792"/>
            <a:ext cx="9875520" cy="685800"/>
          </a:xfrm>
          <a:prstGeom prst="rect">
            <a:avLst/>
          </a:prstGeom>
          <a:noFill/>
          <a:ln/>
        </p:spPr>
        <p:txBody>
          <a:bodyPr wrap="square" lIns="0" tIns="0" rIns="0" bIns="0" rtlCol="0" anchor="ctr"/>
          <a:lstStyle/>
          <a:p>
            <a:pPr marL="0" indent="0">
              <a:buNone/>
            </a:pPr>
            <a:r>
              <a:rPr lang="en-US" sz="3200" b="1" dirty="0">
                <a:solidFill>
                  <a:srgbClr val="07423D"/>
                </a:solidFill>
                <a:latin typeface="Cambria" pitchFamily="34" charset="0"/>
                <a:ea typeface="Cambria" pitchFamily="34" charset="-122"/>
                <a:cs typeface="Cambria" pitchFamily="34" charset="-120"/>
              </a:rPr>
              <a:t>Problem Statement</a:t>
            </a:r>
            <a:endParaRPr lang="en-US" sz="3200" dirty="0"/>
          </a:p>
        </p:txBody>
      </p:sp>
      <p:sp>
        <p:nvSpPr>
          <p:cNvPr id="4" name="Shape 2"/>
          <p:cNvSpPr/>
          <p:nvPr/>
        </p:nvSpPr>
        <p:spPr>
          <a:xfrm>
            <a:off x="548640" y="1463040"/>
            <a:ext cx="2724912" cy="1572768"/>
          </a:xfrm>
          <a:prstGeom prst="roundRect">
            <a:avLst>
              <a:gd name="adj" fmla="val 5233"/>
            </a:avLst>
          </a:prstGeom>
          <a:solidFill>
            <a:srgbClr val="EDF6F4"/>
          </a:solidFill>
          <a:ln w="12700">
            <a:solidFill>
              <a:srgbClr val="D3E9E5"/>
            </a:solidFill>
            <a:prstDash val="solid"/>
          </a:ln>
        </p:spPr>
      </p:sp>
      <p:sp>
        <p:nvSpPr>
          <p:cNvPr id="5" name="Shape 3"/>
          <p:cNvSpPr/>
          <p:nvPr/>
        </p:nvSpPr>
        <p:spPr>
          <a:xfrm>
            <a:off x="1627632" y="1664208"/>
            <a:ext cx="566928" cy="566928"/>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1746687" y="1783263"/>
            <a:ext cx="328818" cy="328818"/>
          </a:xfrm>
          <a:prstGeom prst="rect">
            <a:avLst/>
          </a:prstGeom>
        </p:spPr>
      </p:pic>
      <p:sp>
        <p:nvSpPr>
          <p:cNvPr id="7" name="Text 4"/>
          <p:cNvSpPr/>
          <p:nvPr/>
        </p:nvSpPr>
        <p:spPr>
          <a:xfrm>
            <a:off x="676656" y="2377440"/>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Manual paperwork</a:t>
            </a:r>
            <a:endParaRPr lang="en-US" sz="1100" dirty="0"/>
          </a:p>
        </p:txBody>
      </p:sp>
      <p:sp>
        <p:nvSpPr>
          <p:cNvPr id="8" name="Shape 5"/>
          <p:cNvSpPr/>
          <p:nvPr/>
        </p:nvSpPr>
        <p:spPr>
          <a:xfrm>
            <a:off x="3419856" y="1463040"/>
            <a:ext cx="2724912" cy="1572768"/>
          </a:xfrm>
          <a:prstGeom prst="roundRect">
            <a:avLst>
              <a:gd name="adj" fmla="val 5233"/>
            </a:avLst>
          </a:prstGeom>
          <a:solidFill>
            <a:srgbClr val="EDF6F4"/>
          </a:solidFill>
          <a:ln w="12700">
            <a:solidFill>
              <a:srgbClr val="D3E9E5"/>
            </a:solidFill>
            <a:prstDash val="solid"/>
          </a:ln>
        </p:spPr>
      </p:sp>
      <p:sp>
        <p:nvSpPr>
          <p:cNvPr id="9" name="Shape 6"/>
          <p:cNvSpPr/>
          <p:nvPr/>
        </p:nvSpPr>
        <p:spPr>
          <a:xfrm>
            <a:off x="4498848" y="1664208"/>
            <a:ext cx="566928" cy="566928"/>
          </a:xfrm>
          <a:prstGeom prst="ellipse">
            <a:avLst/>
          </a:prstGeom>
          <a:solidFill>
            <a:srgbClr val="FFFFFF"/>
          </a:solidFill>
          <a:ln/>
        </p:spPr>
      </p:sp>
      <p:pic>
        <p:nvPicPr>
          <p:cNvPr id="10" name="Image 1" descr="preencoded.png"/>
          <p:cNvPicPr>
            <a:picLocks noChangeAspect="1"/>
          </p:cNvPicPr>
          <p:nvPr/>
        </p:nvPicPr>
        <p:blipFill>
          <a:blip r:embed="rId4"/>
          <a:stretch>
            <a:fillRect/>
          </a:stretch>
        </p:blipFill>
        <p:spPr>
          <a:xfrm>
            <a:off x="4617903" y="1783263"/>
            <a:ext cx="328818" cy="328818"/>
          </a:xfrm>
          <a:prstGeom prst="rect">
            <a:avLst/>
          </a:prstGeom>
        </p:spPr>
      </p:pic>
      <p:sp>
        <p:nvSpPr>
          <p:cNvPr id="11" name="Text 7"/>
          <p:cNvSpPr/>
          <p:nvPr/>
        </p:nvSpPr>
        <p:spPr>
          <a:xfrm>
            <a:off x="3547872" y="2377440"/>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Long waiting times</a:t>
            </a:r>
            <a:endParaRPr lang="en-US" sz="1100" dirty="0"/>
          </a:p>
        </p:txBody>
      </p:sp>
      <p:sp>
        <p:nvSpPr>
          <p:cNvPr id="12" name="Shape 8"/>
          <p:cNvSpPr/>
          <p:nvPr/>
        </p:nvSpPr>
        <p:spPr>
          <a:xfrm>
            <a:off x="6291072" y="1463040"/>
            <a:ext cx="2724912" cy="1572768"/>
          </a:xfrm>
          <a:prstGeom prst="roundRect">
            <a:avLst>
              <a:gd name="adj" fmla="val 5233"/>
            </a:avLst>
          </a:prstGeom>
          <a:solidFill>
            <a:srgbClr val="EDF6F4"/>
          </a:solidFill>
          <a:ln w="12700">
            <a:solidFill>
              <a:srgbClr val="D3E9E5"/>
            </a:solidFill>
            <a:prstDash val="solid"/>
          </a:ln>
        </p:spPr>
      </p:sp>
      <p:sp>
        <p:nvSpPr>
          <p:cNvPr id="13" name="Shape 9"/>
          <p:cNvSpPr/>
          <p:nvPr/>
        </p:nvSpPr>
        <p:spPr>
          <a:xfrm>
            <a:off x="7370064" y="1664208"/>
            <a:ext cx="566928" cy="566928"/>
          </a:xfrm>
          <a:prstGeom prst="ellipse">
            <a:avLst/>
          </a:prstGeom>
          <a:solidFill>
            <a:srgbClr val="FFFFFF"/>
          </a:solidFill>
          <a:ln/>
        </p:spPr>
      </p:sp>
      <p:pic>
        <p:nvPicPr>
          <p:cNvPr id="14" name="Image 2" descr="preencoded.png"/>
          <p:cNvPicPr>
            <a:picLocks noChangeAspect="1"/>
          </p:cNvPicPr>
          <p:nvPr/>
        </p:nvPicPr>
        <p:blipFill>
          <a:blip r:embed="rId5"/>
          <a:stretch>
            <a:fillRect/>
          </a:stretch>
        </p:blipFill>
        <p:spPr>
          <a:xfrm>
            <a:off x="7489119" y="1783263"/>
            <a:ext cx="328818" cy="328818"/>
          </a:xfrm>
          <a:prstGeom prst="rect">
            <a:avLst/>
          </a:prstGeom>
        </p:spPr>
      </p:pic>
      <p:sp>
        <p:nvSpPr>
          <p:cNvPr id="15" name="Text 10"/>
          <p:cNvSpPr/>
          <p:nvPr/>
        </p:nvSpPr>
        <p:spPr>
          <a:xfrm>
            <a:off x="6419088" y="2377440"/>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Appointment management difficulties</a:t>
            </a:r>
            <a:endParaRPr lang="en-US" sz="1100" dirty="0"/>
          </a:p>
        </p:txBody>
      </p:sp>
      <p:sp>
        <p:nvSpPr>
          <p:cNvPr id="16" name="Shape 11"/>
          <p:cNvSpPr/>
          <p:nvPr/>
        </p:nvSpPr>
        <p:spPr>
          <a:xfrm>
            <a:off x="9162288" y="1463040"/>
            <a:ext cx="2724912" cy="1572768"/>
          </a:xfrm>
          <a:prstGeom prst="roundRect">
            <a:avLst>
              <a:gd name="adj" fmla="val 5233"/>
            </a:avLst>
          </a:prstGeom>
          <a:solidFill>
            <a:srgbClr val="EDF6F4"/>
          </a:solidFill>
          <a:ln w="12700">
            <a:solidFill>
              <a:srgbClr val="D3E9E5"/>
            </a:solidFill>
            <a:prstDash val="solid"/>
          </a:ln>
        </p:spPr>
      </p:sp>
      <p:sp>
        <p:nvSpPr>
          <p:cNvPr id="17" name="Shape 12"/>
          <p:cNvSpPr/>
          <p:nvPr/>
        </p:nvSpPr>
        <p:spPr>
          <a:xfrm>
            <a:off x="10241280" y="1664208"/>
            <a:ext cx="566928" cy="566928"/>
          </a:xfrm>
          <a:prstGeom prst="ellipse">
            <a:avLst/>
          </a:prstGeom>
          <a:solidFill>
            <a:srgbClr val="FFFFFF"/>
          </a:solidFill>
          <a:ln/>
        </p:spPr>
      </p:sp>
      <p:pic>
        <p:nvPicPr>
          <p:cNvPr id="18" name="Image 3" descr="preencoded.png"/>
          <p:cNvPicPr>
            <a:picLocks noChangeAspect="1"/>
          </p:cNvPicPr>
          <p:nvPr/>
        </p:nvPicPr>
        <p:blipFill>
          <a:blip r:embed="rId6"/>
          <a:stretch>
            <a:fillRect/>
          </a:stretch>
        </p:blipFill>
        <p:spPr>
          <a:xfrm>
            <a:off x="10360335" y="1783263"/>
            <a:ext cx="328818" cy="328818"/>
          </a:xfrm>
          <a:prstGeom prst="rect">
            <a:avLst/>
          </a:prstGeom>
        </p:spPr>
      </p:pic>
      <p:sp>
        <p:nvSpPr>
          <p:cNvPr id="19" name="Text 13"/>
          <p:cNvSpPr/>
          <p:nvPr/>
        </p:nvSpPr>
        <p:spPr>
          <a:xfrm>
            <a:off x="9290304" y="2377440"/>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Data entry errors</a:t>
            </a:r>
            <a:endParaRPr lang="en-US" sz="1100" dirty="0"/>
          </a:p>
        </p:txBody>
      </p:sp>
      <p:sp>
        <p:nvSpPr>
          <p:cNvPr id="20" name="Shape 14"/>
          <p:cNvSpPr/>
          <p:nvPr/>
        </p:nvSpPr>
        <p:spPr>
          <a:xfrm>
            <a:off x="548640" y="3255264"/>
            <a:ext cx="2724912" cy="1572768"/>
          </a:xfrm>
          <a:prstGeom prst="roundRect">
            <a:avLst>
              <a:gd name="adj" fmla="val 5233"/>
            </a:avLst>
          </a:prstGeom>
          <a:solidFill>
            <a:srgbClr val="EDF6F4"/>
          </a:solidFill>
          <a:ln w="12700">
            <a:solidFill>
              <a:srgbClr val="D3E9E5"/>
            </a:solidFill>
            <a:prstDash val="solid"/>
          </a:ln>
        </p:spPr>
      </p:sp>
      <p:sp>
        <p:nvSpPr>
          <p:cNvPr id="21" name="Shape 15"/>
          <p:cNvSpPr/>
          <p:nvPr/>
        </p:nvSpPr>
        <p:spPr>
          <a:xfrm>
            <a:off x="1627632" y="3456432"/>
            <a:ext cx="566928" cy="566928"/>
          </a:xfrm>
          <a:prstGeom prst="ellipse">
            <a:avLst/>
          </a:prstGeom>
          <a:solidFill>
            <a:srgbClr val="FFFFFF"/>
          </a:solidFill>
          <a:ln/>
        </p:spPr>
      </p:sp>
      <p:pic>
        <p:nvPicPr>
          <p:cNvPr id="22" name="Image 4" descr="preencoded.png"/>
          <p:cNvPicPr>
            <a:picLocks noChangeAspect="1"/>
          </p:cNvPicPr>
          <p:nvPr/>
        </p:nvPicPr>
        <p:blipFill>
          <a:blip r:embed="rId7"/>
          <a:stretch>
            <a:fillRect/>
          </a:stretch>
        </p:blipFill>
        <p:spPr>
          <a:xfrm>
            <a:off x="1746687" y="3575487"/>
            <a:ext cx="328818" cy="328818"/>
          </a:xfrm>
          <a:prstGeom prst="rect">
            <a:avLst/>
          </a:prstGeom>
        </p:spPr>
      </p:pic>
      <p:sp>
        <p:nvSpPr>
          <p:cNvPr id="23" name="Text 16"/>
          <p:cNvSpPr/>
          <p:nvPr/>
        </p:nvSpPr>
        <p:spPr>
          <a:xfrm>
            <a:off x="676656" y="4169664"/>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Difficulty accessing patient information</a:t>
            </a:r>
            <a:endParaRPr lang="en-US" sz="1100" dirty="0"/>
          </a:p>
        </p:txBody>
      </p:sp>
      <p:sp>
        <p:nvSpPr>
          <p:cNvPr id="24" name="Shape 17"/>
          <p:cNvSpPr/>
          <p:nvPr/>
        </p:nvSpPr>
        <p:spPr>
          <a:xfrm>
            <a:off x="3419856" y="3255264"/>
            <a:ext cx="2724912" cy="1572768"/>
          </a:xfrm>
          <a:prstGeom prst="roundRect">
            <a:avLst>
              <a:gd name="adj" fmla="val 5233"/>
            </a:avLst>
          </a:prstGeom>
          <a:solidFill>
            <a:srgbClr val="EDF6F4"/>
          </a:solidFill>
          <a:ln w="12700">
            <a:solidFill>
              <a:srgbClr val="D3E9E5"/>
            </a:solidFill>
            <a:prstDash val="solid"/>
          </a:ln>
        </p:spPr>
      </p:sp>
      <p:sp>
        <p:nvSpPr>
          <p:cNvPr id="25" name="Shape 18"/>
          <p:cNvSpPr/>
          <p:nvPr/>
        </p:nvSpPr>
        <p:spPr>
          <a:xfrm>
            <a:off x="4498848" y="3456432"/>
            <a:ext cx="566928" cy="566928"/>
          </a:xfrm>
          <a:prstGeom prst="ellipse">
            <a:avLst/>
          </a:prstGeom>
          <a:solidFill>
            <a:srgbClr val="FFFFFF"/>
          </a:solidFill>
          <a:ln/>
        </p:spPr>
      </p:sp>
      <p:pic>
        <p:nvPicPr>
          <p:cNvPr id="26" name="Image 5" descr="preencoded.png"/>
          <p:cNvPicPr>
            <a:picLocks noChangeAspect="1"/>
          </p:cNvPicPr>
          <p:nvPr/>
        </p:nvPicPr>
        <p:blipFill>
          <a:blip r:embed="rId8"/>
          <a:stretch>
            <a:fillRect/>
          </a:stretch>
        </p:blipFill>
        <p:spPr>
          <a:xfrm>
            <a:off x="4617903" y="3575487"/>
            <a:ext cx="328818" cy="328818"/>
          </a:xfrm>
          <a:prstGeom prst="rect">
            <a:avLst/>
          </a:prstGeom>
        </p:spPr>
      </p:pic>
      <p:sp>
        <p:nvSpPr>
          <p:cNvPr id="27" name="Text 19"/>
          <p:cNvSpPr/>
          <p:nvPr/>
        </p:nvSpPr>
        <p:spPr>
          <a:xfrm>
            <a:off x="3547872" y="4169664"/>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Poor coordination between departments</a:t>
            </a:r>
            <a:endParaRPr lang="en-US" sz="1100" dirty="0"/>
          </a:p>
        </p:txBody>
      </p:sp>
      <p:sp>
        <p:nvSpPr>
          <p:cNvPr id="28" name="Shape 20"/>
          <p:cNvSpPr/>
          <p:nvPr/>
        </p:nvSpPr>
        <p:spPr>
          <a:xfrm>
            <a:off x="6291072" y="3255264"/>
            <a:ext cx="2724912" cy="1572768"/>
          </a:xfrm>
          <a:prstGeom prst="roundRect">
            <a:avLst>
              <a:gd name="adj" fmla="val 5233"/>
            </a:avLst>
          </a:prstGeom>
          <a:solidFill>
            <a:srgbClr val="EDF6F4"/>
          </a:solidFill>
          <a:ln w="12700">
            <a:solidFill>
              <a:srgbClr val="D3E9E5"/>
            </a:solidFill>
            <a:prstDash val="solid"/>
          </a:ln>
        </p:spPr>
      </p:sp>
      <p:sp>
        <p:nvSpPr>
          <p:cNvPr id="29" name="Shape 21"/>
          <p:cNvSpPr/>
          <p:nvPr/>
        </p:nvSpPr>
        <p:spPr>
          <a:xfrm>
            <a:off x="7370064" y="3456432"/>
            <a:ext cx="566928" cy="566928"/>
          </a:xfrm>
          <a:prstGeom prst="ellipse">
            <a:avLst/>
          </a:prstGeom>
          <a:solidFill>
            <a:srgbClr val="FFFFFF"/>
          </a:solidFill>
          <a:ln/>
        </p:spPr>
      </p:sp>
      <p:pic>
        <p:nvPicPr>
          <p:cNvPr id="30" name="Image 6" descr="preencoded.png"/>
          <p:cNvPicPr>
            <a:picLocks noChangeAspect="1"/>
          </p:cNvPicPr>
          <p:nvPr/>
        </p:nvPicPr>
        <p:blipFill>
          <a:blip r:embed="rId9"/>
          <a:stretch>
            <a:fillRect/>
          </a:stretch>
        </p:blipFill>
        <p:spPr>
          <a:xfrm>
            <a:off x="7489119" y="3575487"/>
            <a:ext cx="328818" cy="328818"/>
          </a:xfrm>
          <a:prstGeom prst="rect">
            <a:avLst/>
          </a:prstGeom>
        </p:spPr>
      </p:pic>
      <p:sp>
        <p:nvSpPr>
          <p:cNvPr id="31" name="Text 22"/>
          <p:cNvSpPr/>
          <p:nvPr/>
        </p:nvSpPr>
        <p:spPr>
          <a:xfrm>
            <a:off x="6419088" y="4169664"/>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Separate handling of billing, pharmacy, lab &amp; records</a:t>
            </a:r>
            <a:endParaRPr lang="en-US" sz="1100" dirty="0"/>
          </a:p>
        </p:txBody>
      </p:sp>
      <p:sp>
        <p:nvSpPr>
          <p:cNvPr id="32" name="Shape 23"/>
          <p:cNvSpPr/>
          <p:nvPr/>
        </p:nvSpPr>
        <p:spPr>
          <a:xfrm>
            <a:off x="9162288" y="3255264"/>
            <a:ext cx="2724912" cy="1572768"/>
          </a:xfrm>
          <a:prstGeom prst="roundRect">
            <a:avLst>
              <a:gd name="adj" fmla="val 5233"/>
            </a:avLst>
          </a:prstGeom>
          <a:solidFill>
            <a:srgbClr val="EDF6F4"/>
          </a:solidFill>
          <a:ln w="12700">
            <a:solidFill>
              <a:srgbClr val="D3E9E5"/>
            </a:solidFill>
            <a:prstDash val="solid"/>
          </a:ln>
        </p:spPr>
      </p:sp>
      <p:sp>
        <p:nvSpPr>
          <p:cNvPr id="33" name="Shape 24"/>
          <p:cNvSpPr/>
          <p:nvPr/>
        </p:nvSpPr>
        <p:spPr>
          <a:xfrm>
            <a:off x="10241280" y="3456432"/>
            <a:ext cx="566928" cy="566928"/>
          </a:xfrm>
          <a:prstGeom prst="ellipse">
            <a:avLst/>
          </a:prstGeom>
          <a:solidFill>
            <a:srgbClr val="FFFFFF"/>
          </a:solidFill>
          <a:ln/>
        </p:spPr>
      </p:sp>
      <p:pic>
        <p:nvPicPr>
          <p:cNvPr id="34" name="Image 7" descr="preencoded.png"/>
          <p:cNvPicPr>
            <a:picLocks noChangeAspect="1"/>
          </p:cNvPicPr>
          <p:nvPr/>
        </p:nvPicPr>
        <p:blipFill>
          <a:blip r:embed="rId10"/>
          <a:stretch>
            <a:fillRect/>
          </a:stretch>
        </p:blipFill>
        <p:spPr>
          <a:xfrm>
            <a:off x="10360335" y="3575487"/>
            <a:ext cx="328818" cy="328818"/>
          </a:xfrm>
          <a:prstGeom prst="rect">
            <a:avLst/>
          </a:prstGeom>
        </p:spPr>
      </p:pic>
      <p:sp>
        <p:nvSpPr>
          <p:cNvPr id="35" name="Text 25"/>
          <p:cNvSpPr/>
          <p:nvPr/>
        </p:nvSpPr>
        <p:spPr>
          <a:xfrm>
            <a:off x="9290304" y="4169664"/>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Difficulty tracking queues and appointments</a:t>
            </a:r>
            <a:endParaRPr lang="en-US" sz="1100" dirty="0"/>
          </a:p>
        </p:txBody>
      </p:sp>
      <p:sp>
        <p:nvSpPr>
          <p:cNvPr id="37" name="Text 27"/>
          <p:cNvSpPr/>
          <p:nvPr/>
        </p:nvSpPr>
        <p:spPr>
          <a:xfrm>
            <a:off x="822960" y="5486400"/>
            <a:ext cx="10607040" cy="594360"/>
          </a:xfrm>
          <a:prstGeom prst="rect">
            <a:avLst/>
          </a:prstGeom>
          <a:noFill/>
          <a:ln/>
        </p:spPr>
        <p:txBody>
          <a:bodyPr wrap="square" lIns="0" tIns="0" rIns="0" bIns="0" rtlCol="0" anchor="ctr"/>
          <a:lstStyle/>
          <a:p>
            <a:pPr marL="0" indent="0" algn="ctr">
              <a:buNone/>
            </a:pPr>
            <a:r>
              <a:rPr lang="en-US" sz="1500" b="1" i="1" dirty="0">
                <a:solidFill>
                  <a:srgbClr val="FFFFFF"/>
                </a:solidFill>
                <a:latin typeface="Cambria" pitchFamily="34" charset="0"/>
                <a:ea typeface="Cambria" pitchFamily="34" charset="-122"/>
                <a:cs typeface="Cambria" pitchFamily="34" charset="-120"/>
              </a:rPr>
              <a:t>In short: hospitals need one connected system — not several disconnected ones.</a:t>
            </a:r>
            <a:endParaRPr lang="en-US" sz="1500" dirty="0"/>
          </a:p>
        </p:txBody>
      </p:sp>
      <p:sp>
        <p:nvSpPr>
          <p:cNvPr id="38" name="Text 28"/>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54706B"/>
                </a:solidFill>
                <a:latin typeface="Calibri" pitchFamily="34" charset="0"/>
                <a:ea typeface="Calibri" pitchFamily="34" charset="-122"/>
                <a:cs typeface="Calibri" pitchFamily="34" charset="-120"/>
              </a:rPr>
              <a:t>Hospital Management &amp; Appointment System</a:t>
            </a:r>
            <a:endParaRPr lang="en-US" sz="900" dirty="0"/>
          </a:p>
        </p:txBody>
      </p:sp>
      <p:sp>
        <p:nvSpPr>
          <p:cNvPr id="39" name="Text 2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4706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2643E"/>
                </a:solidFill>
                <a:latin typeface="Calibri" pitchFamily="34" charset="0"/>
                <a:ea typeface="Calibri" pitchFamily="34" charset="-122"/>
                <a:cs typeface="Calibri" pitchFamily="34" charset="-120"/>
              </a:rPr>
              <a:t>CURRENT APPROACH</a:t>
            </a:r>
            <a:endParaRPr lang="en-US" sz="1200" dirty="0"/>
          </a:p>
        </p:txBody>
      </p:sp>
      <p:sp>
        <p:nvSpPr>
          <p:cNvPr id="3" name="Text 1"/>
          <p:cNvSpPr/>
          <p:nvPr/>
        </p:nvSpPr>
        <p:spPr>
          <a:xfrm>
            <a:off x="548640" y="621792"/>
            <a:ext cx="9875520" cy="685800"/>
          </a:xfrm>
          <a:prstGeom prst="rect">
            <a:avLst/>
          </a:prstGeom>
          <a:noFill/>
          <a:ln/>
        </p:spPr>
        <p:txBody>
          <a:bodyPr wrap="square" lIns="0" tIns="0" rIns="0" bIns="0" rtlCol="0" anchor="ctr"/>
          <a:lstStyle/>
          <a:p>
            <a:pPr marL="0" indent="0">
              <a:buNone/>
            </a:pPr>
            <a:r>
              <a:rPr lang="en-US" sz="3200" b="1" dirty="0">
                <a:solidFill>
                  <a:srgbClr val="07423D"/>
                </a:solidFill>
                <a:latin typeface="Cambria" pitchFamily="34" charset="0"/>
                <a:ea typeface="Cambria" pitchFamily="34" charset="-122"/>
                <a:cs typeface="Cambria" pitchFamily="34" charset="-120"/>
              </a:rPr>
              <a:t>Existing System</a:t>
            </a:r>
            <a:endParaRPr lang="en-US" sz="3200" dirty="0"/>
          </a:p>
        </p:txBody>
      </p:sp>
      <p:sp>
        <p:nvSpPr>
          <p:cNvPr id="4" name="Shape 2"/>
          <p:cNvSpPr/>
          <p:nvPr/>
        </p:nvSpPr>
        <p:spPr>
          <a:xfrm>
            <a:off x="548640" y="1508760"/>
            <a:ext cx="1572768" cy="777240"/>
          </a:xfrm>
          <a:prstGeom prst="roundRect">
            <a:avLst>
              <a:gd name="adj" fmla="val 8235"/>
            </a:avLst>
          </a:prstGeom>
          <a:solidFill>
            <a:srgbClr val="0A5C55"/>
          </a:solidFill>
          <a:ln/>
        </p:spPr>
      </p:sp>
      <p:sp>
        <p:nvSpPr>
          <p:cNvPr id="5" name="Text 3"/>
          <p:cNvSpPr/>
          <p:nvPr/>
        </p:nvSpPr>
        <p:spPr>
          <a:xfrm>
            <a:off x="594360" y="1508760"/>
            <a:ext cx="1481328"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Patient</a:t>
            </a:r>
            <a:endParaRPr lang="en-US" sz="1150" dirty="0"/>
          </a:p>
        </p:txBody>
      </p:sp>
      <p:sp>
        <p:nvSpPr>
          <p:cNvPr id="6" name="Shape 4"/>
          <p:cNvSpPr/>
          <p:nvPr/>
        </p:nvSpPr>
        <p:spPr>
          <a:xfrm>
            <a:off x="2161130" y="1783080"/>
            <a:ext cx="251570" cy="146304"/>
          </a:xfrm>
          <a:prstGeom prst="rightArrow">
            <a:avLst/>
          </a:prstGeom>
          <a:solidFill>
            <a:srgbClr val="E2643E"/>
          </a:solidFill>
          <a:ln/>
        </p:spPr>
      </p:sp>
      <p:sp>
        <p:nvSpPr>
          <p:cNvPr id="7" name="Shape 5"/>
          <p:cNvSpPr/>
          <p:nvPr/>
        </p:nvSpPr>
        <p:spPr>
          <a:xfrm>
            <a:off x="2452421" y="1517386"/>
            <a:ext cx="1572768" cy="777240"/>
          </a:xfrm>
          <a:prstGeom prst="roundRect">
            <a:avLst>
              <a:gd name="adj" fmla="val 8235"/>
            </a:avLst>
          </a:prstGeom>
          <a:solidFill>
            <a:srgbClr val="0E756B"/>
          </a:solidFill>
          <a:ln/>
        </p:spPr>
      </p:sp>
      <p:sp>
        <p:nvSpPr>
          <p:cNvPr id="8" name="Text 6"/>
          <p:cNvSpPr/>
          <p:nvPr/>
        </p:nvSpPr>
        <p:spPr>
          <a:xfrm>
            <a:off x="2498141" y="1508760"/>
            <a:ext cx="1481328"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Reception</a:t>
            </a:r>
            <a:endParaRPr lang="en-US" sz="1150" dirty="0"/>
          </a:p>
        </p:txBody>
      </p:sp>
      <p:sp>
        <p:nvSpPr>
          <p:cNvPr id="9" name="Shape 7"/>
          <p:cNvSpPr/>
          <p:nvPr/>
        </p:nvSpPr>
        <p:spPr>
          <a:xfrm>
            <a:off x="4064910" y="1783080"/>
            <a:ext cx="251570" cy="146304"/>
          </a:xfrm>
          <a:prstGeom prst="rightArrow">
            <a:avLst/>
          </a:prstGeom>
          <a:solidFill>
            <a:srgbClr val="E2643E"/>
          </a:solidFill>
          <a:ln/>
        </p:spPr>
      </p:sp>
      <p:sp>
        <p:nvSpPr>
          <p:cNvPr id="10" name="Shape 8"/>
          <p:cNvSpPr/>
          <p:nvPr/>
        </p:nvSpPr>
        <p:spPr>
          <a:xfrm>
            <a:off x="4356202" y="1508760"/>
            <a:ext cx="1572768" cy="777240"/>
          </a:xfrm>
          <a:prstGeom prst="roundRect">
            <a:avLst>
              <a:gd name="adj" fmla="val 8235"/>
            </a:avLst>
          </a:prstGeom>
          <a:solidFill>
            <a:srgbClr val="0A5C55"/>
          </a:solidFill>
          <a:ln/>
        </p:spPr>
      </p:sp>
      <p:sp>
        <p:nvSpPr>
          <p:cNvPr id="11" name="Text 9"/>
          <p:cNvSpPr/>
          <p:nvPr/>
        </p:nvSpPr>
        <p:spPr>
          <a:xfrm>
            <a:off x="4401922" y="1508760"/>
            <a:ext cx="1481328"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Doctor</a:t>
            </a:r>
            <a:endParaRPr lang="en-US" sz="1150" dirty="0"/>
          </a:p>
        </p:txBody>
      </p:sp>
      <p:sp>
        <p:nvSpPr>
          <p:cNvPr id="12" name="Shape 10"/>
          <p:cNvSpPr/>
          <p:nvPr/>
        </p:nvSpPr>
        <p:spPr>
          <a:xfrm>
            <a:off x="5968691" y="1783080"/>
            <a:ext cx="251570" cy="146304"/>
          </a:xfrm>
          <a:prstGeom prst="rightArrow">
            <a:avLst/>
          </a:prstGeom>
          <a:solidFill>
            <a:srgbClr val="E2643E"/>
          </a:solidFill>
          <a:ln/>
        </p:spPr>
      </p:sp>
      <p:sp>
        <p:nvSpPr>
          <p:cNvPr id="13" name="Shape 11"/>
          <p:cNvSpPr/>
          <p:nvPr/>
        </p:nvSpPr>
        <p:spPr>
          <a:xfrm>
            <a:off x="6259982" y="1508760"/>
            <a:ext cx="1572768" cy="777240"/>
          </a:xfrm>
          <a:prstGeom prst="roundRect">
            <a:avLst>
              <a:gd name="adj" fmla="val 8235"/>
            </a:avLst>
          </a:prstGeom>
          <a:solidFill>
            <a:srgbClr val="0E756B"/>
          </a:solidFill>
          <a:ln/>
        </p:spPr>
      </p:sp>
      <p:sp>
        <p:nvSpPr>
          <p:cNvPr id="14" name="Text 12"/>
          <p:cNvSpPr/>
          <p:nvPr/>
        </p:nvSpPr>
        <p:spPr>
          <a:xfrm>
            <a:off x="6305702" y="1508760"/>
            <a:ext cx="1481328"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Billing</a:t>
            </a:r>
            <a:endParaRPr lang="en-US" sz="1150" dirty="0"/>
          </a:p>
        </p:txBody>
      </p:sp>
      <p:sp>
        <p:nvSpPr>
          <p:cNvPr id="15" name="Shape 13"/>
          <p:cNvSpPr/>
          <p:nvPr/>
        </p:nvSpPr>
        <p:spPr>
          <a:xfrm>
            <a:off x="7872472" y="1783080"/>
            <a:ext cx="251570" cy="146304"/>
          </a:xfrm>
          <a:prstGeom prst="rightArrow">
            <a:avLst/>
          </a:prstGeom>
          <a:solidFill>
            <a:srgbClr val="E2643E"/>
          </a:solidFill>
          <a:ln/>
        </p:spPr>
      </p:sp>
      <p:sp>
        <p:nvSpPr>
          <p:cNvPr id="16" name="Shape 14"/>
          <p:cNvSpPr/>
          <p:nvPr/>
        </p:nvSpPr>
        <p:spPr>
          <a:xfrm>
            <a:off x="8163763" y="1508760"/>
            <a:ext cx="1572768" cy="777240"/>
          </a:xfrm>
          <a:prstGeom prst="roundRect">
            <a:avLst>
              <a:gd name="adj" fmla="val 8235"/>
            </a:avLst>
          </a:prstGeom>
          <a:solidFill>
            <a:srgbClr val="0A5C55"/>
          </a:solidFill>
          <a:ln/>
        </p:spPr>
      </p:sp>
      <p:sp>
        <p:nvSpPr>
          <p:cNvPr id="17" name="Text 15"/>
          <p:cNvSpPr/>
          <p:nvPr/>
        </p:nvSpPr>
        <p:spPr>
          <a:xfrm>
            <a:off x="8209483" y="1508760"/>
            <a:ext cx="1481328"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Pharmacy /</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Lab</a:t>
            </a:r>
            <a:endParaRPr lang="en-US" sz="1150" dirty="0"/>
          </a:p>
        </p:txBody>
      </p:sp>
      <p:sp>
        <p:nvSpPr>
          <p:cNvPr id="18" name="Shape 16"/>
          <p:cNvSpPr/>
          <p:nvPr/>
        </p:nvSpPr>
        <p:spPr>
          <a:xfrm>
            <a:off x="9776253" y="1783080"/>
            <a:ext cx="251570" cy="146304"/>
          </a:xfrm>
          <a:prstGeom prst="rightArrow">
            <a:avLst/>
          </a:prstGeom>
          <a:solidFill>
            <a:srgbClr val="E2643E"/>
          </a:solidFill>
          <a:ln/>
        </p:spPr>
      </p:sp>
      <p:sp>
        <p:nvSpPr>
          <p:cNvPr id="19" name="Shape 17"/>
          <p:cNvSpPr/>
          <p:nvPr/>
        </p:nvSpPr>
        <p:spPr>
          <a:xfrm>
            <a:off x="10067544" y="1508760"/>
            <a:ext cx="1572768" cy="777240"/>
          </a:xfrm>
          <a:prstGeom prst="roundRect">
            <a:avLst>
              <a:gd name="adj" fmla="val 8235"/>
            </a:avLst>
          </a:prstGeom>
          <a:solidFill>
            <a:srgbClr val="0E756B"/>
          </a:solidFill>
          <a:ln/>
        </p:spPr>
      </p:sp>
      <p:sp>
        <p:nvSpPr>
          <p:cNvPr id="20" name="Text 18"/>
          <p:cNvSpPr/>
          <p:nvPr/>
        </p:nvSpPr>
        <p:spPr>
          <a:xfrm>
            <a:off x="10113264" y="1508760"/>
            <a:ext cx="1481328"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Records</a:t>
            </a:r>
            <a:endParaRPr lang="en-US" sz="1150" dirty="0"/>
          </a:p>
        </p:txBody>
      </p:sp>
      <p:sp>
        <p:nvSpPr>
          <p:cNvPr id="21" name="Text 19"/>
          <p:cNvSpPr/>
          <p:nvPr/>
        </p:nvSpPr>
        <p:spPr>
          <a:xfrm>
            <a:off x="548640" y="2423160"/>
            <a:ext cx="11064240" cy="365760"/>
          </a:xfrm>
          <a:prstGeom prst="rect">
            <a:avLst/>
          </a:prstGeom>
          <a:noFill/>
          <a:ln/>
        </p:spPr>
        <p:txBody>
          <a:bodyPr wrap="square" lIns="0" tIns="0" rIns="0" bIns="0" rtlCol="0" anchor="ctr"/>
          <a:lstStyle/>
          <a:p>
            <a:pPr marL="0" indent="0">
              <a:buNone/>
            </a:pPr>
            <a:r>
              <a:rPr lang="en-US" sz="1150" i="1" dirty="0">
                <a:solidFill>
                  <a:srgbClr val="54706B"/>
                </a:solidFill>
                <a:latin typeface="Calibri" pitchFamily="34" charset="0"/>
                <a:ea typeface="Calibri" pitchFamily="34" charset="-122"/>
                <a:cs typeface="Calibri" pitchFamily="34" charset="-120"/>
              </a:rPr>
              <a:t>Each stage is handled separately, often with paper records passed manually between departments.</a:t>
            </a:r>
            <a:endParaRPr lang="en-US" sz="1150" dirty="0"/>
          </a:p>
        </p:txBody>
      </p:sp>
      <p:sp>
        <p:nvSpPr>
          <p:cNvPr id="22" name="Text 20"/>
          <p:cNvSpPr/>
          <p:nvPr/>
        </p:nvSpPr>
        <p:spPr>
          <a:xfrm>
            <a:off x="548640" y="3017520"/>
            <a:ext cx="7315200" cy="274320"/>
          </a:xfrm>
          <a:prstGeom prst="rect">
            <a:avLst/>
          </a:prstGeom>
          <a:noFill/>
          <a:ln/>
        </p:spPr>
        <p:txBody>
          <a:bodyPr wrap="square" lIns="0" tIns="0" rIns="0" bIns="0" rtlCol="0" anchor="ctr"/>
          <a:lstStyle/>
          <a:p>
            <a:pPr marL="0" indent="0">
              <a:buNone/>
            </a:pPr>
            <a:r>
              <a:rPr lang="en-US" sz="1100" b="1" kern="0" spc="120" dirty="0">
                <a:solidFill>
                  <a:srgbClr val="E2643E"/>
                </a:solidFill>
                <a:latin typeface="Calibri" pitchFamily="34" charset="0"/>
                <a:ea typeface="Calibri" pitchFamily="34" charset="-122"/>
                <a:cs typeface="Calibri" pitchFamily="34" charset="-120"/>
              </a:rPr>
              <a:t>LIMITATIONS OF THIS APPROACH</a:t>
            </a:r>
            <a:endParaRPr lang="en-US" sz="1100" dirty="0"/>
          </a:p>
        </p:txBody>
      </p:sp>
      <p:sp>
        <p:nvSpPr>
          <p:cNvPr id="23" name="Shape 21"/>
          <p:cNvSpPr/>
          <p:nvPr/>
        </p:nvSpPr>
        <p:spPr>
          <a:xfrm>
            <a:off x="548640" y="3364992"/>
            <a:ext cx="3611880" cy="868680"/>
          </a:xfrm>
          <a:prstGeom prst="roundRect">
            <a:avLst>
              <a:gd name="adj" fmla="val 8421"/>
            </a:avLst>
          </a:prstGeom>
          <a:solidFill>
            <a:srgbClr val="EDF6F4"/>
          </a:solidFill>
          <a:ln w="12700">
            <a:solidFill>
              <a:srgbClr val="D3E9E5"/>
            </a:solidFill>
            <a:prstDash val="solid"/>
          </a:ln>
        </p:spPr>
      </p:sp>
      <p:sp>
        <p:nvSpPr>
          <p:cNvPr id="24" name="Shape 22"/>
          <p:cNvSpPr/>
          <p:nvPr/>
        </p:nvSpPr>
        <p:spPr>
          <a:xfrm>
            <a:off x="676656" y="3607308"/>
            <a:ext cx="384048" cy="384048"/>
          </a:xfrm>
          <a:prstGeom prst="ellipse">
            <a:avLst/>
          </a:prstGeom>
          <a:solidFill>
            <a:srgbClr val="FFFFFF"/>
          </a:solidFill>
          <a:ln/>
        </p:spPr>
      </p:sp>
      <p:pic>
        <p:nvPicPr>
          <p:cNvPr id="25" name="Image 0" descr="preencoded.png"/>
          <p:cNvPicPr>
            <a:picLocks noChangeAspect="1"/>
          </p:cNvPicPr>
          <p:nvPr/>
        </p:nvPicPr>
        <p:blipFill>
          <a:blip r:embed="rId3"/>
          <a:stretch>
            <a:fillRect/>
          </a:stretch>
        </p:blipFill>
        <p:spPr>
          <a:xfrm>
            <a:off x="753466" y="3684118"/>
            <a:ext cx="230429" cy="230429"/>
          </a:xfrm>
          <a:prstGeom prst="rect">
            <a:avLst/>
          </a:prstGeom>
        </p:spPr>
      </p:pic>
      <p:sp>
        <p:nvSpPr>
          <p:cNvPr id="26" name="Text 23"/>
          <p:cNvSpPr/>
          <p:nvPr/>
        </p:nvSpPr>
        <p:spPr>
          <a:xfrm>
            <a:off x="1170432" y="3364992"/>
            <a:ext cx="2862072" cy="868680"/>
          </a:xfrm>
          <a:prstGeom prst="rect">
            <a:avLst/>
          </a:prstGeom>
          <a:noFill/>
          <a:ln/>
        </p:spPr>
        <p:txBody>
          <a:bodyPr wrap="square" lIns="0" tIns="0" rIns="0" bIns="0" rtlCol="0" anchor="ctr"/>
          <a:lstStyle/>
          <a:p>
            <a:pPr marL="0" indent="0">
              <a:lnSpc>
                <a:spcPct val="105000"/>
              </a:lnSpc>
              <a:buNone/>
            </a:pPr>
            <a:r>
              <a:rPr lang="en-US" sz="1100" b="1" dirty="0">
                <a:solidFill>
                  <a:srgbClr val="15302C"/>
                </a:solidFill>
                <a:latin typeface="Calibri" pitchFamily="34" charset="0"/>
                <a:ea typeface="Calibri" pitchFamily="34" charset="-122"/>
                <a:cs typeface="Calibri" pitchFamily="34" charset="-120"/>
              </a:rPr>
              <a:t>Manual / separate processes</a:t>
            </a:r>
            <a:endParaRPr lang="en-US" sz="1100" dirty="0"/>
          </a:p>
        </p:txBody>
      </p:sp>
      <p:sp>
        <p:nvSpPr>
          <p:cNvPr id="27" name="Shape 24"/>
          <p:cNvSpPr/>
          <p:nvPr/>
        </p:nvSpPr>
        <p:spPr>
          <a:xfrm>
            <a:off x="4270248" y="3364992"/>
            <a:ext cx="3611880" cy="868680"/>
          </a:xfrm>
          <a:prstGeom prst="roundRect">
            <a:avLst>
              <a:gd name="adj" fmla="val 8421"/>
            </a:avLst>
          </a:prstGeom>
          <a:solidFill>
            <a:srgbClr val="EDF6F4"/>
          </a:solidFill>
          <a:ln w="12700">
            <a:solidFill>
              <a:srgbClr val="D3E9E5"/>
            </a:solidFill>
            <a:prstDash val="solid"/>
          </a:ln>
        </p:spPr>
      </p:sp>
      <p:sp>
        <p:nvSpPr>
          <p:cNvPr id="28" name="Shape 25"/>
          <p:cNvSpPr/>
          <p:nvPr/>
        </p:nvSpPr>
        <p:spPr>
          <a:xfrm>
            <a:off x="4398264" y="3607308"/>
            <a:ext cx="384048" cy="384048"/>
          </a:xfrm>
          <a:prstGeom prst="ellipse">
            <a:avLst/>
          </a:prstGeom>
          <a:solidFill>
            <a:srgbClr val="FFFFFF"/>
          </a:solidFill>
          <a:ln/>
        </p:spPr>
      </p:sp>
      <p:pic>
        <p:nvPicPr>
          <p:cNvPr id="29" name="Image 1" descr="preencoded.png"/>
          <p:cNvPicPr>
            <a:picLocks noChangeAspect="1"/>
          </p:cNvPicPr>
          <p:nvPr/>
        </p:nvPicPr>
        <p:blipFill>
          <a:blip r:embed="rId3"/>
          <a:stretch>
            <a:fillRect/>
          </a:stretch>
        </p:blipFill>
        <p:spPr>
          <a:xfrm>
            <a:off x="4475074" y="3684118"/>
            <a:ext cx="230429" cy="230429"/>
          </a:xfrm>
          <a:prstGeom prst="rect">
            <a:avLst/>
          </a:prstGeom>
        </p:spPr>
      </p:pic>
      <p:sp>
        <p:nvSpPr>
          <p:cNvPr id="30" name="Text 26"/>
          <p:cNvSpPr/>
          <p:nvPr/>
        </p:nvSpPr>
        <p:spPr>
          <a:xfrm>
            <a:off x="4892040" y="3364992"/>
            <a:ext cx="2862072" cy="868680"/>
          </a:xfrm>
          <a:prstGeom prst="rect">
            <a:avLst/>
          </a:prstGeom>
          <a:noFill/>
          <a:ln/>
        </p:spPr>
        <p:txBody>
          <a:bodyPr wrap="square" lIns="0" tIns="0" rIns="0" bIns="0" rtlCol="0" anchor="ctr"/>
          <a:lstStyle/>
          <a:p>
            <a:pPr marL="0" indent="0">
              <a:lnSpc>
                <a:spcPct val="105000"/>
              </a:lnSpc>
              <a:buNone/>
            </a:pPr>
            <a:r>
              <a:rPr lang="en-US" sz="1100" b="1" dirty="0">
                <a:solidFill>
                  <a:srgbClr val="15302C"/>
                </a:solidFill>
                <a:latin typeface="Calibri" pitchFamily="34" charset="0"/>
                <a:ea typeface="Calibri" pitchFamily="34" charset="-122"/>
                <a:cs typeface="Calibri" pitchFamily="34" charset="-120"/>
              </a:rPr>
              <a:t>Data duplication across departments</a:t>
            </a:r>
            <a:endParaRPr lang="en-US" sz="1100" dirty="0"/>
          </a:p>
        </p:txBody>
      </p:sp>
      <p:sp>
        <p:nvSpPr>
          <p:cNvPr id="31" name="Shape 27"/>
          <p:cNvSpPr/>
          <p:nvPr/>
        </p:nvSpPr>
        <p:spPr>
          <a:xfrm>
            <a:off x="7991856" y="3364992"/>
            <a:ext cx="3611880" cy="868680"/>
          </a:xfrm>
          <a:prstGeom prst="roundRect">
            <a:avLst>
              <a:gd name="adj" fmla="val 8421"/>
            </a:avLst>
          </a:prstGeom>
          <a:solidFill>
            <a:srgbClr val="EDF6F4"/>
          </a:solidFill>
          <a:ln w="12700">
            <a:solidFill>
              <a:srgbClr val="D3E9E5"/>
            </a:solidFill>
            <a:prstDash val="solid"/>
          </a:ln>
        </p:spPr>
      </p:sp>
      <p:sp>
        <p:nvSpPr>
          <p:cNvPr id="32" name="Shape 28"/>
          <p:cNvSpPr/>
          <p:nvPr/>
        </p:nvSpPr>
        <p:spPr>
          <a:xfrm>
            <a:off x="8119872" y="3607308"/>
            <a:ext cx="384048" cy="384048"/>
          </a:xfrm>
          <a:prstGeom prst="ellipse">
            <a:avLst/>
          </a:prstGeom>
          <a:solidFill>
            <a:srgbClr val="FFFFFF"/>
          </a:solidFill>
          <a:ln/>
        </p:spPr>
      </p:sp>
      <p:pic>
        <p:nvPicPr>
          <p:cNvPr id="33" name="Image 2" descr="preencoded.png"/>
          <p:cNvPicPr>
            <a:picLocks noChangeAspect="1"/>
          </p:cNvPicPr>
          <p:nvPr/>
        </p:nvPicPr>
        <p:blipFill>
          <a:blip r:embed="rId3"/>
          <a:stretch>
            <a:fillRect/>
          </a:stretch>
        </p:blipFill>
        <p:spPr>
          <a:xfrm>
            <a:off x="8196682" y="3684118"/>
            <a:ext cx="230429" cy="230429"/>
          </a:xfrm>
          <a:prstGeom prst="rect">
            <a:avLst/>
          </a:prstGeom>
        </p:spPr>
      </p:pic>
      <p:sp>
        <p:nvSpPr>
          <p:cNvPr id="34" name="Text 29"/>
          <p:cNvSpPr/>
          <p:nvPr/>
        </p:nvSpPr>
        <p:spPr>
          <a:xfrm>
            <a:off x="8613648" y="3364992"/>
            <a:ext cx="2862072" cy="868680"/>
          </a:xfrm>
          <a:prstGeom prst="rect">
            <a:avLst/>
          </a:prstGeom>
          <a:noFill/>
          <a:ln/>
        </p:spPr>
        <p:txBody>
          <a:bodyPr wrap="square" lIns="0" tIns="0" rIns="0" bIns="0" rtlCol="0" anchor="ctr"/>
          <a:lstStyle/>
          <a:p>
            <a:pPr marL="0" indent="0">
              <a:lnSpc>
                <a:spcPct val="105000"/>
              </a:lnSpc>
              <a:buNone/>
            </a:pPr>
            <a:r>
              <a:rPr lang="en-US" sz="1100" b="1" dirty="0">
                <a:solidFill>
                  <a:srgbClr val="15302C"/>
                </a:solidFill>
                <a:latin typeface="Calibri" pitchFamily="34" charset="0"/>
                <a:ea typeface="Calibri" pitchFamily="34" charset="-122"/>
                <a:cs typeface="Calibri" pitchFamily="34" charset="-120"/>
              </a:rPr>
              <a:t>Delays in patient service</a:t>
            </a:r>
            <a:endParaRPr lang="en-US" sz="1100" dirty="0"/>
          </a:p>
        </p:txBody>
      </p:sp>
      <p:sp>
        <p:nvSpPr>
          <p:cNvPr id="35" name="Shape 30"/>
          <p:cNvSpPr/>
          <p:nvPr/>
        </p:nvSpPr>
        <p:spPr>
          <a:xfrm>
            <a:off x="548640" y="4343400"/>
            <a:ext cx="3611880" cy="868680"/>
          </a:xfrm>
          <a:prstGeom prst="roundRect">
            <a:avLst>
              <a:gd name="adj" fmla="val 8421"/>
            </a:avLst>
          </a:prstGeom>
          <a:solidFill>
            <a:srgbClr val="EDF6F4"/>
          </a:solidFill>
          <a:ln w="12700">
            <a:solidFill>
              <a:srgbClr val="D3E9E5"/>
            </a:solidFill>
            <a:prstDash val="solid"/>
          </a:ln>
        </p:spPr>
      </p:sp>
      <p:sp>
        <p:nvSpPr>
          <p:cNvPr id="36" name="Shape 31"/>
          <p:cNvSpPr/>
          <p:nvPr/>
        </p:nvSpPr>
        <p:spPr>
          <a:xfrm>
            <a:off x="676656" y="4585716"/>
            <a:ext cx="384048" cy="384048"/>
          </a:xfrm>
          <a:prstGeom prst="ellipse">
            <a:avLst/>
          </a:prstGeom>
          <a:solidFill>
            <a:srgbClr val="FFFFFF"/>
          </a:solidFill>
          <a:ln/>
        </p:spPr>
      </p:sp>
      <p:pic>
        <p:nvPicPr>
          <p:cNvPr id="37" name="Image 3" descr="preencoded.png"/>
          <p:cNvPicPr>
            <a:picLocks noChangeAspect="1"/>
          </p:cNvPicPr>
          <p:nvPr/>
        </p:nvPicPr>
        <p:blipFill>
          <a:blip r:embed="rId3"/>
          <a:stretch>
            <a:fillRect/>
          </a:stretch>
        </p:blipFill>
        <p:spPr>
          <a:xfrm>
            <a:off x="753466" y="4662526"/>
            <a:ext cx="230429" cy="230429"/>
          </a:xfrm>
          <a:prstGeom prst="rect">
            <a:avLst/>
          </a:prstGeom>
        </p:spPr>
      </p:pic>
      <p:sp>
        <p:nvSpPr>
          <p:cNvPr id="38" name="Text 32"/>
          <p:cNvSpPr/>
          <p:nvPr/>
        </p:nvSpPr>
        <p:spPr>
          <a:xfrm>
            <a:off x="1170432" y="4343400"/>
            <a:ext cx="2862072" cy="868680"/>
          </a:xfrm>
          <a:prstGeom prst="rect">
            <a:avLst/>
          </a:prstGeom>
          <a:noFill/>
          <a:ln/>
        </p:spPr>
        <p:txBody>
          <a:bodyPr wrap="square" lIns="0" tIns="0" rIns="0" bIns="0" rtlCol="0" anchor="ctr"/>
          <a:lstStyle/>
          <a:p>
            <a:pPr marL="0" indent="0">
              <a:lnSpc>
                <a:spcPct val="105000"/>
              </a:lnSpc>
              <a:buNone/>
            </a:pPr>
            <a:r>
              <a:rPr lang="en-US" sz="1100" b="1" dirty="0">
                <a:solidFill>
                  <a:srgbClr val="15302C"/>
                </a:solidFill>
                <a:latin typeface="Calibri" pitchFamily="34" charset="0"/>
                <a:ea typeface="Calibri" pitchFamily="34" charset="-122"/>
                <a:cs typeface="Calibri" pitchFamily="34" charset="-120"/>
              </a:rPr>
              <a:t>Poor coordination between teams</a:t>
            </a:r>
            <a:endParaRPr lang="en-US" sz="1100" dirty="0"/>
          </a:p>
        </p:txBody>
      </p:sp>
      <p:sp>
        <p:nvSpPr>
          <p:cNvPr id="39" name="Shape 33"/>
          <p:cNvSpPr/>
          <p:nvPr/>
        </p:nvSpPr>
        <p:spPr>
          <a:xfrm>
            <a:off x="4270248" y="4343400"/>
            <a:ext cx="3611880" cy="868680"/>
          </a:xfrm>
          <a:prstGeom prst="roundRect">
            <a:avLst>
              <a:gd name="adj" fmla="val 8421"/>
            </a:avLst>
          </a:prstGeom>
          <a:solidFill>
            <a:srgbClr val="EDF6F4"/>
          </a:solidFill>
          <a:ln w="12700">
            <a:solidFill>
              <a:srgbClr val="D3E9E5"/>
            </a:solidFill>
            <a:prstDash val="solid"/>
          </a:ln>
        </p:spPr>
      </p:sp>
      <p:sp>
        <p:nvSpPr>
          <p:cNvPr id="40" name="Shape 34"/>
          <p:cNvSpPr/>
          <p:nvPr/>
        </p:nvSpPr>
        <p:spPr>
          <a:xfrm>
            <a:off x="4398264" y="4585716"/>
            <a:ext cx="384048" cy="384048"/>
          </a:xfrm>
          <a:prstGeom prst="ellipse">
            <a:avLst/>
          </a:prstGeom>
          <a:solidFill>
            <a:srgbClr val="FFFFFF"/>
          </a:solidFill>
          <a:ln/>
        </p:spPr>
      </p:sp>
      <p:pic>
        <p:nvPicPr>
          <p:cNvPr id="41" name="Image 4" descr="preencoded.png"/>
          <p:cNvPicPr>
            <a:picLocks noChangeAspect="1"/>
          </p:cNvPicPr>
          <p:nvPr/>
        </p:nvPicPr>
        <p:blipFill>
          <a:blip r:embed="rId3"/>
          <a:stretch>
            <a:fillRect/>
          </a:stretch>
        </p:blipFill>
        <p:spPr>
          <a:xfrm>
            <a:off x="4475074" y="4662526"/>
            <a:ext cx="230429" cy="230429"/>
          </a:xfrm>
          <a:prstGeom prst="rect">
            <a:avLst/>
          </a:prstGeom>
        </p:spPr>
      </p:pic>
      <p:sp>
        <p:nvSpPr>
          <p:cNvPr id="42" name="Text 35"/>
          <p:cNvSpPr/>
          <p:nvPr/>
        </p:nvSpPr>
        <p:spPr>
          <a:xfrm>
            <a:off x="4892040" y="4343400"/>
            <a:ext cx="2862072" cy="868680"/>
          </a:xfrm>
          <a:prstGeom prst="rect">
            <a:avLst/>
          </a:prstGeom>
          <a:noFill/>
          <a:ln/>
        </p:spPr>
        <p:txBody>
          <a:bodyPr wrap="square" lIns="0" tIns="0" rIns="0" bIns="0" rtlCol="0" anchor="ctr"/>
          <a:lstStyle/>
          <a:p>
            <a:pPr marL="0" indent="0">
              <a:lnSpc>
                <a:spcPct val="105000"/>
              </a:lnSpc>
              <a:buNone/>
            </a:pPr>
            <a:r>
              <a:rPr lang="en-US" sz="1100" b="1" dirty="0">
                <a:solidFill>
                  <a:srgbClr val="15302C"/>
                </a:solidFill>
                <a:latin typeface="Calibri" pitchFamily="34" charset="0"/>
                <a:ea typeface="Calibri" pitchFamily="34" charset="-122"/>
                <a:cs typeface="Calibri" pitchFamily="34" charset="-120"/>
              </a:rPr>
              <a:t>Difficult record retrieval</a:t>
            </a:r>
            <a:endParaRPr lang="en-US" sz="1100" dirty="0"/>
          </a:p>
        </p:txBody>
      </p:sp>
      <p:sp>
        <p:nvSpPr>
          <p:cNvPr id="43" name="Shape 36"/>
          <p:cNvSpPr/>
          <p:nvPr/>
        </p:nvSpPr>
        <p:spPr>
          <a:xfrm>
            <a:off x="7991856" y="4343400"/>
            <a:ext cx="3611880" cy="868680"/>
          </a:xfrm>
          <a:prstGeom prst="roundRect">
            <a:avLst>
              <a:gd name="adj" fmla="val 8421"/>
            </a:avLst>
          </a:prstGeom>
          <a:solidFill>
            <a:srgbClr val="EDF6F4"/>
          </a:solidFill>
          <a:ln w="12700">
            <a:solidFill>
              <a:srgbClr val="D3E9E5"/>
            </a:solidFill>
            <a:prstDash val="solid"/>
          </a:ln>
        </p:spPr>
      </p:sp>
      <p:sp>
        <p:nvSpPr>
          <p:cNvPr id="44" name="Shape 37"/>
          <p:cNvSpPr/>
          <p:nvPr/>
        </p:nvSpPr>
        <p:spPr>
          <a:xfrm>
            <a:off x="8119872" y="4585716"/>
            <a:ext cx="384048" cy="384048"/>
          </a:xfrm>
          <a:prstGeom prst="ellipse">
            <a:avLst/>
          </a:prstGeom>
          <a:solidFill>
            <a:srgbClr val="FFFFFF"/>
          </a:solidFill>
          <a:ln/>
        </p:spPr>
      </p:sp>
      <p:pic>
        <p:nvPicPr>
          <p:cNvPr id="45" name="Image 5" descr="preencoded.png"/>
          <p:cNvPicPr>
            <a:picLocks noChangeAspect="1"/>
          </p:cNvPicPr>
          <p:nvPr/>
        </p:nvPicPr>
        <p:blipFill>
          <a:blip r:embed="rId3"/>
          <a:stretch>
            <a:fillRect/>
          </a:stretch>
        </p:blipFill>
        <p:spPr>
          <a:xfrm>
            <a:off x="8196682" y="4662526"/>
            <a:ext cx="230429" cy="230429"/>
          </a:xfrm>
          <a:prstGeom prst="rect">
            <a:avLst/>
          </a:prstGeom>
        </p:spPr>
      </p:pic>
      <p:sp>
        <p:nvSpPr>
          <p:cNvPr id="46" name="Text 38"/>
          <p:cNvSpPr/>
          <p:nvPr/>
        </p:nvSpPr>
        <p:spPr>
          <a:xfrm>
            <a:off x="8613648" y="4343400"/>
            <a:ext cx="2862072" cy="868680"/>
          </a:xfrm>
          <a:prstGeom prst="rect">
            <a:avLst/>
          </a:prstGeom>
          <a:noFill/>
          <a:ln/>
        </p:spPr>
        <p:txBody>
          <a:bodyPr wrap="square" lIns="0" tIns="0" rIns="0" bIns="0" rtlCol="0" anchor="ctr"/>
          <a:lstStyle/>
          <a:p>
            <a:pPr marL="0" indent="0">
              <a:lnSpc>
                <a:spcPct val="105000"/>
              </a:lnSpc>
              <a:buNone/>
            </a:pPr>
            <a:r>
              <a:rPr lang="en-US" sz="1100" b="1" dirty="0">
                <a:solidFill>
                  <a:srgbClr val="15302C"/>
                </a:solidFill>
                <a:latin typeface="Calibri" pitchFamily="34" charset="0"/>
                <a:ea typeface="Calibri" pitchFamily="34" charset="-122"/>
                <a:cs typeface="Calibri" pitchFamily="34" charset="-120"/>
              </a:rPr>
              <a:t>Increased possibility of errors</a:t>
            </a:r>
            <a:endParaRPr lang="en-US" sz="1100" dirty="0"/>
          </a:p>
        </p:txBody>
      </p:sp>
      <p:sp>
        <p:nvSpPr>
          <p:cNvPr id="47" name="Shape 39"/>
          <p:cNvSpPr/>
          <p:nvPr/>
        </p:nvSpPr>
        <p:spPr>
          <a:xfrm>
            <a:off x="548640" y="5321808"/>
            <a:ext cx="3611880" cy="868680"/>
          </a:xfrm>
          <a:prstGeom prst="roundRect">
            <a:avLst>
              <a:gd name="adj" fmla="val 8421"/>
            </a:avLst>
          </a:prstGeom>
          <a:solidFill>
            <a:srgbClr val="EDF6F4"/>
          </a:solidFill>
          <a:ln w="12700">
            <a:solidFill>
              <a:srgbClr val="D3E9E5"/>
            </a:solidFill>
            <a:prstDash val="solid"/>
          </a:ln>
        </p:spPr>
      </p:sp>
      <p:sp>
        <p:nvSpPr>
          <p:cNvPr id="48" name="Shape 40"/>
          <p:cNvSpPr/>
          <p:nvPr/>
        </p:nvSpPr>
        <p:spPr>
          <a:xfrm>
            <a:off x="676656" y="5564124"/>
            <a:ext cx="384048" cy="384048"/>
          </a:xfrm>
          <a:prstGeom prst="ellipse">
            <a:avLst/>
          </a:prstGeom>
          <a:solidFill>
            <a:srgbClr val="FFFFFF"/>
          </a:solidFill>
          <a:ln/>
        </p:spPr>
      </p:sp>
      <p:pic>
        <p:nvPicPr>
          <p:cNvPr id="49" name="Image 6" descr="preencoded.png"/>
          <p:cNvPicPr>
            <a:picLocks noChangeAspect="1"/>
          </p:cNvPicPr>
          <p:nvPr/>
        </p:nvPicPr>
        <p:blipFill>
          <a:blip r:embed="rId3"/>
          <a:stretch>
            <a:fillRect/>
          </a:stretch>
        </p:blipFill>
        <p:spPr>
          <a:xfrm>
            <a:off x="753466" y="5640934"/>
            <a:ext cx="230429" cy="230429"/>
          </a:xfrm>
          <a:prstGeom prst="rect">
            <a:avLst/>
          </a:prstGeom>
        </p:spPr>
      </p:pic>
      <p:sp>
        <p:nvSpPr>
          <p:cNvPr id="50" name="Text 41"/>
          <p:cNvSpPr/>
          <p:nvPr/>
        </p:nvSpPr>
        <p:spPr>
          <a:xfrm>
            <a:off x="1170432" y="5321808"/>
            <a:ext cx="2862072" cy="868680"/>
          </a:xfrm>
          <a:prstGeom prst="rect">
            <a:avLst/>
          </a:prstGeom>
          <a:noFill/>
          <a:ln/>
        </p:spPr>
        <p:txBody>
          <a:bodyPr wrap="square" lIns="0" tIns="0" rIns="0" bIns="0" rtlCol="0" anchor="ctr"/>
          <a:lstStyle/>
          <a:p>
            <a:pPr marL="0" indent="0">
              <a:lnSpc>
                <a:spcPct val="105000"/>
              </a:lnSpc>
              <a:buNone/>
            </a:pPr>
            <a:r>
              <a:rPr lang="en-US" sz="1100" b="1" dirty="0">
                <a:solidFill>
                  <a:srgbClr val="15302C"/>
                </a:solidFill>
                <a:latin typeface="Calibri" pitchFamily="34" charset="0"/>
                <a:ea typeface="Calibri" pitchFamily="34" charset="-122"/>
                <a:cs typeface="Calibri" pitchFamily="34" charset="-120"/>
              </a:rPr>
              <a:t>Limited centralised monitoring</a:t>
            </a:r>
            <a:endParaRPr lang="en-US" sz="1100" dirty="0"/>
          </a:p>
        </p:txBody>
      </p:sp>
      <p:sp>
        <p:nvSpPr>
          <p:cNvPr id="51" name="Text 42"/>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54706B"/>
                </a:solidFill>
                <a:latin typeface="Calibri" pitchFamily="34" charset="0"/>
                <a:ea typeface="Calibri" pitchFamily="34" charset="-122"/>
                <a:cs typeface="Calibri" pitchFamily="34" charset="-120"/>
              </a:rPr>
              <a:t>Hospital Management &amp; Appointment System</a:t>
            </a:r>
            <a:endParaRPr lang="en-US" sz="900" dirty="0"/>
          </a:p>
        </p:txBody>
      </p:sp>
      <p:sp>
        <p:nvSpPr>
          <p:cNvPr id="52" name="Text 4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4706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2643E"/>
                </a:solidFill>
                <a:latin typeface="Calibri" pitchFamily="34" charset="0"/>
                <a:ea typeface="Calibri" pitchFamily="34" charset="-122"/>
                <a:cs typeface="Calibri" pitchFamily="34" charset="-120"/>
              </a:rPr>
              <a:t>OUR SOLUTION</a:t>
            </a:r>
            <a:endParaRPr lang="en-US" sz="1200" dirty="0"/>
          </a:p>
        </p:txBody>
      </p:sp>
      <p:sp>
        <p:nvSpPr>
          <p:cNvPr id="3" name="Text 1"/>
          <p:cNvSpPr/>
          <p:nvPr/>
        </p:nvSpPr>
        <p:spPr>
          <a:xfrm>
            <a:off x="548640" y="621792"/>
            <a:ext cx="9875520" cy="685800"/>
          </a:xfrm>
          <a:prstGeom prst="rect">
            <a:avLst/>
          </a:prstGeom>
          <a:noFill/>
          <a:ln/>
        </p:spPr>
        <p:txBody>
          <a:bodyPr wrap="square" lIns="0" tIns="0" rIns="0" bIns="0" rtlCol="0" anchor="ctr"/>
          <a:lstStyle/>
          <a:p>
            <a:pPr marL="0" indent="0">
              <a:buNone/>
            </a:pPr>
            <a:r>
              <a:rPr lang="en-US" sz="3200" b="1" dirty="0">
                <a:solidFill>
                  <a:srgbClr val="07423D"/>
                </a:solidFill>
                <a:latin typeface="Cambria" pitchFamily="34" charset="0"/>
                <a:ea typeface="Cambria" pitchFamily="34" charset="-122"/>
                <a:cs typeface="Cambria" pitchFamily="34" charset="-120"/>
              </a:rPr>
              <a:t>Proposed System</a:t>
            </a:r>
            <a:endParaRPr lang="en-US" sz="3200" dirty="0"/>
          </a:p>
        </p:txBody>
      </p:sp>
      <p:sp>
        <p:nvSpPr>
          <p:cNvPr id="4" name="Shape 2"/>
          <p:cNvSpPr/>
          <p:nvPr/>
        </p:nvSpPr>
        <p:spPr>
          <a:xfrm>
            <a:off x="548640" y="1463040"/>
            <a:ext cx="4937760" cy="512064"/>
          </a:xfrm>
          <a:prstGeom prst="roundRect">
            <a:avLst>
              <a:gd name="adj" fmla="val 12500"/>
            </a:avLst>
          </a:prstGeom>
          <a:solidFill>
            <a:srgbClr val="0A5C55"/>
          </a:solidFill>
          <a:ln/>
        </p:spPr>
      </p:sp>
      <p:sp>
        <p:nvSpPr>
          <p:cNvPr id="5" name="Shape 3"/>
          <p:cNvSpPr/>
          <p:nvPr/>
        </p:nvSpPr>
        <p:spPr>
          <a:xfrm>
            <a:off x="640080" y="1536192"/>
            <a:ext cx="365760" cy="365760"/>
          </a:xfrm>
          <a:prstGeom prst="ellipse">
            <a:avLst/>
          </a:prstGeom>
          <a:solidFill>
            <a:srgbClr val="07423D"/>
          </a:solidFill>
          <a:ln/>
        </p:spPr>
      </p:sp>
      <p:pic>
        <p:nvPicPr>
          <p:cNvPr id="6" name="Image 0" descr="preencoded.png"/>
          <p:cNvPicPr>
            <a:picLocks noChangeAspect="1"/>
          </p:cNvPicPr>
          <p:nvPr/>
        </p:nvPicPr>
        <p:blipFill>
          <a:blip r:embed="rId3"/>
          <a:stretch>
            <a:fillRect/>
          </a:stretch>
        </p:blipFill>
        <p:spPr>
          <a:xfrm>
            <a:off x="713232" y="1609344"/>
            <a:ext cx="219456" cy="219456"/>
          </a:xfrm>
          <a:prstGeom prst="rect">
            <a:avLst/>
          </a:prstGeom>
        </p:spPr>
      </p:pic>
      <p:sp>
        <p:nvSpPr>
          <p:cNvPr id="7" name="Text 4"/>
          <p:cNvSpPr/>
          <p:nvPr/>
        </p:nvSpPr>
        <p:spPr>
          <a:xfrm>
            <a:off x="1097280" y="1463040"/>
            <a:ext cx="4297680" cy="51206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Patient</a:t>
            </a:r>
            <a:endParaRPr lang="en-US" sz="1250" dirty="0"/>
          </a:p>
        </p:txBody>
      </p:sp>
      <p:sp>
        <p:nvSpPr>
          <p:cNvPr id="8" name="Shape 5"/>
          <p:cNvSpPr/>
          <p:nvPr/>
        </p:nvSpPr>
        <p:spPr>
          <a:xfrm>
            <a:off x="2916936" y="1984248"/>
            <a:ext cx="201168" cy="105156"/>
          </a:xfrm>
          <a:prstGeom prst="downArrow">
            <a:avLst/>
          </a:prstGeom>
          <a:solidFill>
            <a:srgbClr val="E2643E"/>
          </a:solidFill>
          <a:ln/>
        </p:spPr>
      </p:sp>
      <p:sp>
        <p:nvSpPr>
          <p:cNvPr id="9" name="Shape 6"/>
          <p:cNvSpPr/>
          <p:nvPr/>
        </p:nvSpPr>
        <p:spPr>
          <a:xfrm>
            <a:off x="548640" y="2098548"/>
            <a:ext cx="4937760" cy="512064"/>
          </a:xfrm>
          <a:prstGeom prst="roundRect">
            <a:avLst>
              <a:gd name="adj" fmla="val 12500"/>
            </a:avLst>
          </a:prstGeom>
          <a:solidFill>
            <a:srgbClr val="0A5C55"/>
          </a:solidFill>
          <a:ln/>
        </p:spPr>
      </p:sp>
      <p:sp>
        <p:nvSpPr>
          <p:cNvPr id="10" name="Shape 7"/>
          <p:cNvSpPr/>
          <p:nvPr/>
        </p:nvSpPr>
        <p:spPr>
          <a:xfrm>
            <a:off x="640080" y="2171700"/>
            <a:ext cx="365760" cy="365760"/>
          </a:xfrm>
          <a:prstGeom prst="ellipse">
            <a:avLst/>
          </a:prstGeom>
          <a:solidFill>
            <a:srgbClr val="07423D"/>
          </a:solidFill>
          <a:ln/>
        </p:spPr>
      </p:sp>
      <p:pic>
        <p:nvPicPr>
          <p:cNvPr id="11" name="Image 1" descr="preencoded.png"/>
          <p:cNvPicPr>
            <a:picLocks noChangeAspect="1"/>
          </p:cNvPicPr>
          <p:nvPr/>
        </p:nvPicPr>
        <p:blipFill>
          <a:blip r:embed="rId4"/>
          <a:stretch>
            <a:fillRect/>
          </a:stretch>
        </p:blipFill>
        <p:spPr>
          <a:xfrm>
            <a:off x="713232" y="2244852"/>
            <a:ext cx="219456" cy="219456"/>
          </a:xfrm>
          <a:prstGeom prst="rect">
            <a:avLst/>
          </a:prstGeom>
        </p:spPr>
      </p:pic>
      <p:sp>
        <p:nvSpPr>
          <p:cNvPr id="12" name="Text 8"/>
          <p:cNvSpPr/>
          <p:nvPr/>
        </p:nvSpPr>
        <p:spPr>
          <a:xfrm>
            <a:off x="1097280" y="2098548"/>
            <a:ext cx="4297680" cy="51206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Appointment &amp; Token Management</a:t>
            </a:r>
            <a:endParaRPr lang="en-US" sz="1250" dirty="0"/>
          </a:p>
        </p:txBody>
      </p:sp>
      <p:sp>
        <p:nvSpPr>
          <p:cNvPr id="13" name="Shape 9"/>
          <p:cNvSpPr/>
          <p:nvPr/>
        </p:nvSpPr>
        <p:spPr>
          <a:xfrm>
            <a:off x="2916936" y="2619756"/>
            <a:ext cx="201168" cy="105156"/>
          </a:xfrm>
          <a:prstGeom prst="downArrow">
            <a:avLst/>
          </a:prstGeom>
          <a:solidFill>
            <a:srgbClr val="E2643E"/>
          </a:solidFill>
          <a:ln/>
        </p:spPr>
      </p:sp>
      <p:sp>
        <p:nvSpPr>
          <p:cNvPr id="14" name="Shape 10"/>
          <p:cNvSpPr/>
          <p:nvPr/>
        </p:nvSpPr>
        <p:spPr>
          <a:xfrm>
            <a:off x="548640" y="2734056"/>
            <a:ext cx="4937760" cy="512064"/>
          </a:xfrm>
          <a:prstGeom prst="roundRect">
            <a:avLst>
              <a:gd name="adj" fmla="val 12500"/>
            </a:avLst>
          </a:prstGeom>
          <a:solidFill>
            <a:srgbClr val="0A5C55"/>
          </a:solidFill>
          <a:ln/>
        </p:spPr>
      </p:sp>
      <p:sp>
        <p:nvSpPr>
          <p:cNvPr id="15" name="Shape 11"/>
          <p:cNvSpPr/>
          <p:nvPr/>
        </p:nvSpPr>
        <p:spPr>
          <a:xfrm>
            <a:off x="640080" y="2807208"/>
            <a:ext cx="365760" cy="365760"/>
          </a:xfrm>
          <a:prstGeom prst="ellipse">
            <a:avLst/>
          </a:prstGeom>
          <a:solidFill>
            <a:srgbClr val="07423D"/>
          </a:solidFill>
          <a:ln/>
        </p:spPr>
      </p:sp>
      <p:pic>
        <p:nvPicPr>
          <p:cNvPr id="16" name="Image 2" descr="preencoded.png"/>
          <p:cNvPicPr>
            <a:picLocks noChangeAspect="1"/>
          </p:cNvPicPr>
          <p:nvPr/>
        </p:nvPicPr>
        <p:blipFill>
          <a:blip r:embed="rId5"/>
          <a:stretch>
            <a:fillRect/>
          </a:stretch>
        </p:blipFill>
        <p:spPr>
          <a:xfrm>
            <a:off x="713232" y="2880360"/>
            <a:ext cx="219456" cy="219456"/>
          </a:xfrm>
          <a:prstGeom prst="rect">
            <a:avLst/>
          </a:prstGeom>
        </p:spPr>
      </p:pic>
      <p:sp>
        <p:nvSpPr>
          <p:cNvPr id="17" name="Text 12"/>
          <p:cNvSpPr/>
          <p:nvPr/>
        </p:nvSpPr>
        <p:spPr>
          <a:xfrm>
            <a:off x="1097280" y="2734056"/>
            <a:ext cx="4297680" cy="51206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Doctor / EMR</a:t>
            </a:r>
            <a:endParaRPr lang="en-US" sz="1250" dirty="0"/>
          </a:p>
        </p:txBody>
      </p:sp>
      <p:sp>
        <p:nvSpPr>
          <p:cNvPr id="18" name="Shape 13"/>
          <p:cNvSpPr/>
          <p:nvPr/>
        </p:nvSpPr>
        <p:spPr>
          <a:xfrm>
            <a:off x="2916936" y="3255264"/>
            <a:ext cx="201168" cy="105156"/>
          </a:xfrm>
          <a:prstGeom prst="downArrow">
            <a:avLst/>
          </a:prstGeom>
          <a:solidFill>
            <a:srgbClr val="E2643E"/>
          </a:solidFill>
          <a:ln/>
        </p:spPr>
      </p:sp>
      <p:sp>
        <p:nvSpPr>
          <p:cNvPr id="19" name="Shape 14"/>
          <p:cNvSpPr/>
          <p:nvPr/>
        </p:nvSpPr>
        <p:spPr>
          <a:xfrm>
            <a:off x="548640" y="3369564"/>
            <a:ext cx="4937760" cy="512064"/>
          </a:xfrm>
          <a:prstGeom prst="roundRect">
            <a:avLst>
              <a:gd name="adj" fmla="val 12500"/>
            </a:avLst>
          </a:prstGeom>
          <a:solidFill>
            <a:srgbClr val="0A5C55"/>
          </a:solidFill>
          <a:ln/>
        </p:spPr>
      </p:sp>
      <p:sp>
        <p:nvSpPr>
          <p:cNvPr id="20" name="Shape 15"/>
          <p:cNvSpPr/>
          <p:nvPr/>
        </p:nvSpPr>
        <p:spPr>
          <a:xfrm>
            <a:off x="640080" y="3442716"/>
            <a:ext cx="365760" cy="365760"/>
          </a:xfrm>
          <a:prstGeom prst="ellipse">
            <a:avLst/>
          </a:prstGeom>
          <a:solidFill>
            <a:srgbClr val="07423D"/>
          </a:solidFill>
          <a:ln/>
        </p:spPr>
      </p:sp>
      <p:pic>
        <p:nvPicPr>
          <p:cNvPr id="21" name="Image 3" descr="preencoded.png"/>
          <p:cNvPicPr>
            <a:picLocks noChangeAspect="1"/>
          </p:cNvPicPr>
          <p:nvPr/>
        </p:nvPicPr>
        <p:blipFill>
          <a:blip r:embed="rId6"/>
          <a:stretch>
            <a:fillRect/>
          </a:stretch>
        </p:blipFill>
        <p:spPr>
          <a:xfrm>
            <a:off x="713232" y="3515868"/>
            <a:ext cx="219456" cy="219456"/>
          </a:xfrm>
          <a:prstGeom prst="rect">
            <a:avLst/>
          </a:prstGeom>
        </p:spPr>
      </p:pic>
      <p:sp>
        <p:nvSpPr>
          <p:cNvPr id="22" name="Text 16"/>
          <p:cNvSpPr/>
          <p:nvPr/>
        </p:nvSpPr>
        <p:spPr>
          <a:xfrm>
            <a:off x="1097280" y="3369564"/>
            <a:ext cx="4297680" cy="51206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Billing &amp; Insurance</a:t>
            </a:r>
            <a:endParaRPr lang="en-US" sz="1250" dirty="0"/>
          </a:p>
        </p:txBody>
      </p:sp>
      <p:sp>
        <p:nvSpPr>
          <p:cNvPr id="23" name="Shape 17"/>
          <p:cNvSpPr/>
          <p:nvPr/>
        </p:nvSpPr>
        <p:spPr>
          <a:xfrm>
            <a:off x="2916936" y="3890772"/>
            <a:ext cx="201168" cy="105156"/>
          </a:xfrm>
          <a:prstGeom prst="downArrow">
            <a:avLst/>
          </a:prstGeom>
          <a:solidFill>
            <a:srgbClr val="E2643E"/>
          </a:solidFill>
          <a:ln/>
        </p:spPr>
      </p:sp>
      <p:sp>
        <p:nvSpPr>
          <p:cNvPr id="24" name="Shape 18"/>
          <p:cNvSpPr/>
          <p:nvPr/>
        </p:nvSpPr>
        <p:spPr>
          <a:xfrm>
            <a:off x="548640" y="4005072"/>
            <a:ext cx="4937760" cy="512064"/>
          </a:xfrm>
          <a:prstGeom prst="roundRect">
            <a:avLst>
              <a:gd name="adj" fmla="val 12500"/>
            </a:avLst>
          </a:prstGeom>
          <a:solidFill>
            <a:srgbClr val="0A5C55"/>
          </a:solidFill>
          <a:ln/>
        </p:spPr>
      </p:sp>
      <p:sp>
        <p:nvSpPr>
          <p:cNvPr id="25" name="Shape 19"/>
          <p:cNvSpPr/>
          <p:nvPr/>
        </p:nvSpPr>
        <p:spPr>
          <a:xfrm>
            <a:off x="640080" y="4078224"/>
            <a:ext cx="365760" cy="365760"/>
          </a:xfrm>
          <a:prstGeom prst="ellipse">
            <a:avLst/>
          </a:prstGeom>
          <a:solidFill>
            <a:srgbClr val="07423D"/>
          </a:solidFill>
          <a:ln/>
        </p:spPr>
      </p:sp>
      <p:pic>
        <p:nvPicPr>
          <p:cNvPr id="26" name="Image 4" descr="preencoded.png"/>
          <p:cNvPicPr>
            <a:picLocks noChangeAspect="1"/>
          </p:cNvPicPr>
          <p:nvPr/>
        </p:nvPicPr>
        <p:blipFill>
          <a:blip r:embed="rId7"/>
          <a:stretch>
            <a:fillRect/>
          </a:stretch>
        </p:blipFill>
        <p:spPr>
          <a:xfrm>
            <a:off x="713232" y="4151376"/>
            <a:ext cx="219456" cy="219456"/>
          </a:xfrm>
          <a:prstGeom prst="rect">
            <a:avLst/>
          </a:prstGeom>
        </p:spPr>
      </p:pic>
      <p:sp>
        <p:nvSpPr>
          <p:cNvPr id="27" name="Text 20"/>
          <p:cNvSpPr/>
          <p:nvPr/>
        </p:nvSpPr>
        <p:spPr>
          <a:xfrm>
            <a:off x="1097280" y="4005072"/>
            <a:ext cx="4297680" cy="51206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Pharmacy &amp; Inventory</a:t>
            </a:r>
            <a:endParaRPr lang="en-US" sz="1250" dirty="0"/>
          </a:p>
        </p:txBody>
      </p:sp>
      <p:sp>
        <p:nvSpPr>
          <p:cNvPr id="28" name="Shape 21"/>
          <p:cNvSpPr/>
          <p:nvPr/>
        </p:nvSpPr>
        <p:spPr>
          <a:xfrm>
            <a:off x="2916936" y="4526280"/>
            <a:ext cx="201168" cy="105156"/>
          </a:xfrm>
          <a:prstGeom prst="downArrow">
            <a:avLst/>
          </a:prstGeom>
          <a:solidFill>
            <a:srgbClr val="E2643E"/>
          </a:solidFill>
          <a:ln/>
        </p:spPr>
      </p:sp>
      <p:sp>
        <p:nvSpPr>
          <p:cNvPr id="29" name="Shape 22"/>
          <p:cNvSpPr/>
          <p:nvPr/>
        </p:nvSpPr>
        <p:spPr>
          <a:xfrm>
            <a:off x="548640" y="4640580"/>
            <a:ext cx="4937760" cy="512064"/>
          </a:xfrm>
          <a:prstGeom prst="roundRect">
            <a:avLst>
              <a:gd name="adj" fmla="val 12500"/>
            </a:avLst>
          </a:prstGeom>
          <a:solidFill>
            <a:srgbClr val="0A5C55"/>
          </a:solidFill>
          <a:ln/>
        </p:spPr>
      </p:sp>
      <p:sp>
        <p:nvSpPr>
          <p:cNvPr id="30" name="Shape 23"/>
          <p:cNvSpPr/>
          <p:nvPr/>
        </p:nvSpPr>
        <p:spPr>
          <a:xfrm>
            <a:off x="640080" y="4713732"/>
            <a:ext cx="365760" cy="365760"/>
          </a:xfrm>
          <a:prstGeom prst="ellipse">
            <a:avLst/>
          </a:prstGeom>
          <a:solidFill>
            <a:srgbClr val="07423D"/>
          </a:solidFill>
          <a:ln/>
        </p:spPr>
      </p:sp>
      <p:pic>
        <p:nvPicPr>
          <p:cNvPr id="31" name="Image 5" descr="preencoded.png"/>
          <p:cNvPicPr>
            <a:picLocks noChangeAspect="1"/>
          </p:cNvPicPr>
          <p:nvPr/>
        </p:nvPicPr>
        <p:blipFill>
          <a:blip r:embed="rId8"/>
          <a:stretch>
            <a:fillRect/>
          </a:stretch>
        </p:blipFill>
        <p:spPr>
          <a:xfrm>
            <a:off x="713232" y="4786884"/>
            <a:ext cx="219456" cy="219456"/>
          </a:xfrm>
          <a:prstGeom prst="rect">
            <a:avLst/>
          </a:prstGeom>
        </p:spPr>
      </p:pic>
      <p:sp>
        <p:nvSpPr>
          <p:cNvPr id="32" name="Text 24"/>
          <p:cNvSpPr/>
          <p:nvPr/>
        </p:nvSpPr>
        <p:spPr>
          <a:xfrm>
            <a:off x="1097280" y="4640580"/>
            <a:ext cx="4297680" cy="51206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Laboratory</a:t>
            </a:r>
            <a:endParaRPr lang="en-US" sz="1250" dirty="0"/>
          </a:p>
        </p:txBody>
      </p:sp>
      <p:sp>
        <p:nvSpPr>
          <p:cNvPr id="33" name="Shape 25"/>
          <p:cNvSpPr/>
          <p:nvPr/>
        </p:nvSpPr>
        <p:spPr>
          <a:xfrm>
            <a:off x="2916936" y="5161788"/>
            <a:ext cx="201168" cy="105156"/>
          </a:xfrm>
          <a:prstGeom prst="downArrow">
            <a:avLst/>
          </a:prstGeom>
          <a:solidFill>
            <a:srgbClr val="E2643E"/>
          </a:solidFill>
          <a:ln/>
        </p:spPr>
      </p:sp>
      <p:sp>
        <p:nvSpPr>
          <p:cNvPr id="34" name="Shape 26"/>
          <p:cNvSpPr/>
          <p:nvPr/>
        </p:nvSpPr>
        <p:spPr>
          <a:xfrm>
            <a:off x="548640" y="5276088"/>
            <a:ext cx="4937760" cy="512064"/>
          </a:xfrm>
          <a:prstGeom prst="roundRect">
            <a:avLst>
              <a:gd name="adj" fmla="val 12500"/>
            </a:avLst>
          </a:prstGeom>
          <a:solidFill>
            <a:srgbClr val="0A5C55"/>
          </a:solidFill>
          <a:ln/>
        </p:spPr>
      </p:sp>
      <p:sp>
        <p:nvSpPr>
          <p:cNvPr id="35" name="Shape 27"/>
          <p:cNvSpPr/>
          <p:nvPr/>
        </p:nvSpPr>
        <p:spPr>
          <a:xfrm>
            <a:off x="640080" y="5349240"/>
            <a:ext cx="365760" cy="365760"/>
          </a:xfrm>
          <a:prstGeom prst="ellipse">
            <a:avLst/>
          </a:prstGeom>
          <a:solidFill>
            <a:srgbClr val="07423D"/>
          </a:solidFill>
          <a:ln/>
        </p:spPr>
      </p:sp>
      <p:pic>
        <p:nvPicPr>
          <p:cNvPr id="36" name="Image 6" descr="preencoded.png"/>
          <p:cNvPicPr>
            <a:picLocks noChangeAspect="1"/>
          </p:cNvPicPr>
          <p:nvPr/>
        </p:nvPicPr>
        <p:blipFill>
          <a:blip r:embed="rId9"/>
          <a:stretch>
            <a:fillRect/>
          </a:stretch>
        </p:blipFill>
        <p:spPr>
          <a:xfrm>
            <a:off x="713232" y="5422392"/>
            <a:ext cx="219456" cy="219456"/>
          </a:xfrm>
          <a:prstGeom prst="rect">
            <a:avLst/>
          </a:prstGeom>
        </p:spPr>
      </p:pic>
      <p:sp>
        <p:nvSpPr>
          <p:cNvPr id="37" name="Text 28"/>
          <p:cNvSpPr/>
          <p:nvPr/>
        </p:nvSpPr>
        <p:spPr>
          <a:xfrm>
            <a:off x="1097280" y="5276088"/>
            <a:ext cx="4297680" cy="51206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Admin Dashboard</a:t>
            </a:r>
            <a:endParaRPr lang="en-US" sz="1250" dirty="0"/>
          </a:p>
        </p:txBody>
      </p:sp>
      <p:sp>
        <p:nvSpPr>
          <p:cNvPr id="38" name="Shape 29"/>
          <p:cNvSpPr/>
          <p:nvPr/>
        </p:nvSpPr>
        <p:spPr>
          <a:xfrm>
            <a:off x="5943600" y="1463040"/>
            <a:ext cx="5696712" cy="3977640"/>
          </a:xfrm>
          <a:prstGeom prst="roundRect">
            <a:avLst>
              <a:gd name="adj" fmla="val 2299"/>
            </a:avLst>
          </a:prstGeom>
          <a:solidFill>
            <a:srgbClr val="EDF6F4"/>
          </a:solidFill>
          <a:ln w="12700">
            <a:solidFill>
              <a:srgbClr val="D3E9E5"/>
            </a:solidFill>
            <a:prstDash val="solid"/>
          </a:ln>
        </p:spPr>
      </p:sp>
      <p:sp>
        <p:nvSpPr>
          <p:cNvPr id="39" name="Text 30"/>
          <p:cNvSpPr/>
          <p:nvPr/>
        </p:nvSpPr>
        <p:spPr>
          <a:xfrm>
            <a:off x="6217920" y="1691640"/>
            <a:ext cx="5212080" cy="457200"/>
          </a:xfrm>
          <a:prstGeom prst="rect">
            <a:avLst/>
          </a:prstGeom>
          <a:noFill/>
          <a:ln/>
        </p:spPr>
        <p:txBody>
          <a:bodyPr wrap="square" lIns="0" tIns="0" rIns="0" bIns="0" rtlCol="0" anchor="ctr"/>
          <a:lstStyle/>
          <a:p>
            <a:pPr marL="0" indent="0">
              <a:buNone/>
            </a:pPr>
            <a:r>
              <a:rPr lang="en-US" sz="1800" b="1" dirty="0">
                <a:solidFill>
                  <a:srgbClr val="07423D"/>
                </a:solidFill>
                <a:latin typeface="Cambria" pitchFamily="34" charset="0"/>
                <a:ea typeface="Cambria" pitchFamily="34" charset="-122"/>
                <a:cs typeface="Cambria" pitchFamily="34" charset="-120"/>
              </a:rPr>
              <a:t>A single, connected platform</a:t>
            </a:r>
            <a:endParaRPr lang="en-US" sz="1800" dirty="0"/>
          </a:p>
        </p:txBody>
      </p:sp>
      <p:sp>
        <p:nvSpPr>
          <p:cNvPr id="40" name="Text 31"/>
          <p:cNvSpPr/>
          <p:nvPr/>
        </p:nvSpPr>
        <p:spPr>
          <a:xfrm>
            <a:off x="6217920" y="2240280"/>
            <a:ext cx="5212080" cy="301752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250" dirty="0">
                <a:solidFill>
                  <a:srgbClr val="15302C"/>
                </a:solidFill>
                <a:latin typeface="Calibri" pitchFamily="34" charset="0"/>
                <a:ea typeface="Calibri" pitchFamily="34" charset="-122"/>
                <a:cs typeface="Calibri" pitchFamily="34" charset="-120"/>
              </a:rPr>
              <a:t>All major hospital operations run through one integrated system</a:t>
            </a:r>
            <a:endParaRPr lang="en-US" sz="1250" dirty="0"/>
          </a:p>
          <a:p>
            <a:pPr marL="177800" indent="-177800">
              <a:lnSpc>
                <a:spcPct val="110000"/>
              </a:lnSpc>
              <a:spcAft>
                <a:spcPts val="1000"/>
              </a:spcAft>
              <a:buSzPct val="100000"/>
              <a:buChar char="▪"/>
            </a:pPr>
            <a:r>
              <a:rPr lang="en-US" sz="1250" dirty="0">
                <a:solidFill>
                  <a:srgbClr val="15302C"/>
                </a:solidFill>
                <a:latin typeface="Calibri" pitchFamily="34" charset="0"/>
                <a:ea typeface="Calibri" pitchFamily="34" charset="-122"/>
                <a:cs typeface="Calibri" pitchFamily="34" charset="-120"/>
              </a:rPr>
              <a:t>Patients register, book appointments and track status in real time</a:t>
            </a:r>
            <a:endParaRPr lang="en-US" sz="1250" dirty="0"/>
          </a:p>
          <a:p>
            <a:pPr marL="177800" indent="-177800">
              <a:lnSpc>
                <a:spcPct val="110000"/>
              </a:lnSpc>
              <a:spcAft>
                <a:spcPts val="1000"/>
              </a:spcAft>
              <a:buSzPct val="100000"/>
              <a:buChar char="▪"/>
            </a:pPr>
            <a:r>
              <a:rPr lang="en-US" sz="1250" dirty="0">
                <a:solidFill>
                  <a:srgbClr val="15302C"/>
                </a:solidFill>
                <a:latin typeface="Calibri" pitchFamily="34" charset="0"/>
                <a:ea typeface="Calibri" pitchFamily="34" charset="-122"/>
                <a:cs typeface="Calibri" pitchFamily="34" charset="-120"/>
              </a:rPr>
              <a:t>Doctors access Electronic Medical Records (EMR) instantly</a:t>
            </a:r>
            <a:endParaRPr lang="en-US" sz="1250" dirty="0"/>
          </a:p>
          <a:p>
            <a:pPr marL="177800" indent="-177800">
              <a:lnSpc>
                <a:spcPct val="110000"/>
              </a:lnSpc>
              <a:spcAft>
                <a:spcPts val="1000"/>
              </a:spcAft>
              <a:buSzPct val="100000"/>
              <a:buChar char="▪"/>
            </a:pPr>
            <a:r>
              <a:rPr lang="en-US" sz="1250" dirty="0">
                <a:solidFill>
                  <a:srgbClr val="15302C"/>
                </a:solidFill>
                <a:latin typeface="Calibri" pitchFamily="34" charset="0"/>
                <a:ea typeface="Calibri" pitchFamily="34" charset="-122"/>
                <a:cs typeface="Calibri" pitchFamily="34" charset="-120"/>
              </a:rPr>
              <a:t>Token &amp; queue management reduces waiting time</a:t>
            </a:r>
            <a:endParaRPr lang="en-US" sz="1250" dirty="0"/>
          </a:p>
          <a:p>
            <a:pPr marL="177800" indent="-177800">
              <a:lnSpc>
                <a:spcPct val="110000"/>
              </a:lnSpc>
              <a:spcAft>
                <a:spcPts val="1000"/>
              </a:spcAft>
              <a:buSzPct val="100000"/>
              <a:buChar char="▪"/>
            </a:pPr>
            <a:r>
              <a:rPr lang="en-US" sz="1250" dirty="0">
                <a:solidFill>
                  <a:srgbClr val="15302C"/>
                </a:solidFill>
                <a:latin typeface="Calibri" pitchFamily="34" charset="0"/>
                <a:ea typeface="Calibri" pitchFamily="34" charset="-122"/>
                <a:cs typeface="Calibri" pitchFamily="34" charset="-120"/>
              </a:rPr>
              <a:t>Billing, pharmacy and laboratory data stay connected to patient records</a:t>
            </a:r>
            <a:endParaRPr lang="en-US" sz="1250" dirty="0"/>
          </a:p>
          <a:p>
            <a:pPr marL="177800" indent="-177800">
              <a:lnSpc>
                <a:spcPct val="110000"/>
              </a:lnSpc>
              <a:spcAft>
                <a:spcPts val="1000"/>
              </a:spcAft>
              <a:buSzPct val="100000"/>
              <a:buChar char="▪"/>
            </a:pPr>
            <a:r>
              <a:rPr lang="en-US" sz="1250" dirty="0">
                <a:solidFill>
                  <a:srgbClr val="15302C"/>
                </a:solidFill>
                <a:latin typeface="Calibri" pitchFamily="34" charset="0"/>
                <a:ea typeface="Calibri" pitchFamily="34" charset="-122"/>
                <a:cs typeface="Calibri" pitchFamily="34" charset="-120"/>
              </a:rPr>
              <a:t>Admin dashboard gives staff a centralised view of hospital activity</a:t>
            </a:r>
            <a:endParaRPr lang="en-US" sz="1250" dirty="0"/>
          </a:p>
        </p:txBody>
      </p:sp>
      <p:sp>
        <p:nvSpPr>
          <p:cNvPr id="41" name="Text 32"/>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54706B"/>
                </a:solidFill>
                <a:latin typeface="Calibri" pitchFamily="34" charset="0"/>
                <a:ea typeface="Calibri" pitchFamily="34" charset="-122"/>
                <a:cs typeface="Calibri" pitchFamily="34" charset="-120"/>
              </a:rPr>
              <a:t>Hospital Management &amp; Appointment System</a:t>
            </a:r>
            <a:endParaRPr lang="en-US" sz="900" dirty="0"/>
          </a:p>
        </p:txBody>
      </p:sp>
      <p:sp>
        <p:nvSpPr>
          <p:cNvPr id="42" name="Text 3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4706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2643E"/>
                </a:solidFill>
                <a:latin typeface="Calibri" pitchFamily="34" charset="0"/>
                <a:ea typeface="Calibri" pitchFamily="34" charset="-122"/>
                <a:cs typeface="Calibri" pitchFamily="34" charset="-120"/>
              </a:rPr>
              <a:t>HOW IT FITS TOGETHER</a:t>
            </a:r>
            <a:endParaRPr lang="en-US" sz="1200" dirty="0"/>
          </a:p>
        </p:txBody>
      </p:sp>
      <p:sp>
        <p:nvSpPr>
          <p:cNvPr id="3" name="Text 1"/>
          <p:cNvSpPr/>
          <p:nvPr/>
        </p:nvSpPr>
        <p:spPr>
          <a:xfrm>
            <a:off x="548640" y="621792"/>
            <a:ext cx="9875520" cy="685800"/>
          </a:xfrm>
          <a:prstGeom prst="rect">
            <a:avLst/>
          </a:prstGeom>
          <a:noFill/>
          <a:ln/>
        </p:spPr>
        <p:txBody>
          <a:bodyPr wrap="square" lIns="0" tIns="0" rIns="0" bIns="0" rtlCol="0" anchor="ctr"/>
          <a:lstStyle/>
          <a:p>
            <a:pPr marL="0" indent="0">
              <a:buNone/>
            </a:pPr>
            <a:r>
              <a:rPr lang="en-US" sz="3200" b="1" dirty="0">
                <a:solidFill>
                  <a:srgbClr val="07423D"/>
                </a:solidFill>
                <a:latin typeface="Cambria" pitchFamily="34" charset="0"/>
                <a:ea typeface="Cambria" pitchFamily="34" charset="-122"/>
                <a:cs typeface="Cambria" pitchFamily="34" charset="-120"/>
              </a:rPr>
              <a:t>System Architecture</a:t>
            </a:r>
            <a:endParaRPr lang="en-US" sz="3200" dirty="0"/>
          </a:p>
        </p:txBody>
      </p:sp>
      <p:sp>
        <p:nvSpPr>
          <p:cNvPr id="4" name="Shape 2"/>
          <p:cNvSpPr/>
          <p:nvPr/>
        </p:nvSpPr>
        <p:spPr>
          <a:xfrm>
            <a:off x="1463040" y="1463040"/>
            <a:ext cx="9235440" cy="713232"/>
          </a:xfrm>
          <a:prstGeom prst="roundRect">
            <a:avLst>
              <a:gd name="adj" fmla="val 10256"/>
            </a:avLst>
          </a:prstGeom>
          <a:solidFill>
            <a:srgbClr val="07423D"/>
          </a:solidFill>
          <a:ln/>
        </p:spPr>
      </p:sp>
      <p:sp>
        <p:nvSpPr>
          <p:cNvPr id="5" name="Shape 3"/>
          <p:cNvSpPr/>
          <p:nvPr/>
        </p:nvSpPr>
        <p:spPr>
          <a:xfrm>
            <a:off x="1664208" y="1609344"/>
            <a:ext cx="420624" cy="420624"/>
          </a:xfrm>
          <a:prstGeom prst="ellipse">
            <a:avLst/>
          </a:prstGeom>
          <a:solidFill>
            <a:srgbClr val="FFFFFF">
              <a:alpha val="25000"/>
            </a:srgbClr>
          </a:solidFill>
          <a:ln/>
        </p:spPr>
      </p:sp>
      <p:pic>
        <p:nvPicPr>
          <p:cNvPr id="6" name="Image 0" descr="preencoded.png"/>
          <p:cNvPicPr>
            <a:picLocks noChangeAspect="1"/>
          </p:cNvPicPr>
          <p:nvPr/>
        </p:nvPicPr>
        <p:blipFill>
          <a:blip r:embed="rId3"/>
          <a:stretch>
            <a:fillRect/>
          </a:stretch>
        </p:blipFill>
        <p:spPr>
          <a:xfrm>
            <a:off x="1748333" y="1693469"/>
            <a:ext cx="252374" cy="252374"/>
          </a:xfrm>
          <a:prstGeom prst="rect">
            <a:avLst/>
          </a:prstGeom>
        </p:spPr>
      </p:pic>
      <p:sp>
        <p:nvSpPr>
          <p:cNvPr id="7" name="Text 4"/>
          <p:cNvSpPr/>
          <p:nvPr/>
        </p:nvSpPr>
        <p:spPr>
          <a:xfrm>
            <a:off x="2240280" y="1536192"/>
            <a:ext cx="3657600" cy="292608"/>
          </a:xfrm>
          <a:prstGeom prst="rect">
            <a:avLst/>
          </a:prstGeom>
          <a:noFill/>
          <a:ln/>
        </p:spPr>
        <p:txBody>
          <a:bodyPr wrap="square" lIns="0" tIns="0" rIns="0" bIns="0" rtlCol="0" anchor="ctr"/>
          <a:lstStyle/>
          <a:p>
            <a:pPr marL="0" indent="0">
              <a:buNone/>
            </a:pPr>
            <a:r>
              <a:rPr lang="en-US" sz="1200" b="1" kern="0" spc="80" dirty="0">
                <a:solidFill>
                  <a:srgbClr val="FFFFFF"/>
                </a:solidFill>
                <a:latin typeface="Calibri" pitchFamily="34" charset="0"/>
                <a:ea typeface="Calibri" pitchFamily="34" charset="-122"/>
                <a:cs typeface="Calibri" pitchFamily="34" charset="-120"/>
              </a:rPr>
              <a:t>USER LAYER</a:t>
            </a:r>
            <a:endParaRPr lang="en-US" sz="1200" dirty="0"/>
          </a:p>
        </p:txBody>
      </p:sp>
      <p:sp>
        <p:nvSpPr>
          <p:cNvPr id="8" name="Text 5"/>
          <p:cNvSpPr/>
          <p:nvPr/>
        </p:nvSpPr>
        <p:spPr>
          <a:xfrm>
            <a:off x="2240280" y="1810512"/>
            <a:ext cx="8229600" cy="320040"/>
          </a:xfrm>
          <a:prstGeom prst="rect">
            <a:avLst/>
          </a:prstGeom>
          <a:noFill/>
          <a:ln/>
        </p:spPr>
        <p:txBody>
          <a:bodyPr wrap="square" lIns="0" tIns="0" rIns="0" bIns="0" rtlCol="0" anchor="ctr"/>
          <a:lstStyle/>
          <a:p>
            <a:pPr marL="0" indent="0">
              <a:buNone/>
            </a:pPr>
            <a:r>
              <a:rPr lang="en-US" sz="1150" dirty="0">
                <a:solidFill>
                  <a:srgbClr val="E4F3F0"/>
                </a:solidFill>
                <a:latin typeface="Calibri" pitchFamily="34" charset="0"/>
                <a:ea typeface="Calibri" pitchFamily="34" charset="-122"/>
                <a:cs typeface="Calibri" pitchFamily="34" charset="-120"/>
              </a:rPr>
              <a:t>Patient   |   Doctor   |   Admin</a:t>
            </a:r>
            <a:endParaRPr lang="en-US" sz="1150" dirty="0"/>
          </a:p>
        </p:txBody>
      </p:sp>
      <p:sp>
        <p:nvSpPr>
          <p:cNvPr id="9" name="Shape 6"/>
          <p:cNvSpPr/>
          <p:nvPr/>
        </p:nvSpPr>
        <p:spPr>
          <a:xfrm>
            <a:off x="5980176" y="2194560"/>
            <a:ext cx="201168" cy="164592"/>
          </a:xfrm>
          <a:prstGeom prst="downArrow">
            <a:avLst/>
          </a:prstGeom>
          <a:solidFill>
            <a:srgbClr val="E2643E"/>
          </a:solidFill>
          <a:ln/>
        </p:spPr>
      </p:sp>
      <p:sp>
        <p:nvSpPr>
          <p:cNvPr id="10" name="Shape 7"/>
          <p:cNvSpPr/>
          <p:nvPr/>
        </p:nvSpPr>
        <p:spPr>
          <a:xfrm>
            <a:off x="1463040" y="2377440"/>
            <a:ext cx="9235440" cy="713232"/>
          </a:xfrm>
          <a:prstGeom prst="roundRect">
            <a:avLst>
              <a:gd name="adj" fmla="val 10256"/>
            </a:avLst>
          </a:prstGeom>
          <a:solidFill>
            <a:srgbClr val="0A5C55"/>
          </a:solidFill>
          <a:ln/>
        </p:spPr>
      </p:sp>
      <p:sp>
        <p:nvSpPr>
          <p:cNvPr id="11" name="Shape 8"/>
          <p:cNvSpPr/>
          <p:nvPr/>
        </p:nvSpPr>
        <p:spPr>
          <a:xfrm>
            <a:off x="1664208" y="2523744"/>
            <a:ext cx="420624" cy="420624"/>
          </a:xfrm>
          <a:prstGeom prst="ellipse">
            <a:avLst/>
          </a:prstGeom>
          <a:solidFill>
            <a:srgbClr val="FFFFFF">
              <a:alpha val="25000"/>
            </a:srgbClr>
          </a:solidFill>
          <a:ln/>
        </p:spPr>
      </p:sp>
      <p:pic>
        <p:nvPicPr>
          <p:cNvPr id="12" name="Image 1" descr="preencoded.png"/>
          <p:cNvPicPr>
            <a:picLocks noChangeAspect="1"/>
          </p:cNvPicPr>
          <p:nvPr/>
        </p:nvPicPr>
        <p:blipFill>
          <a:blip r:embed="rId4"/>
          <a:stretch>
            <a:fillRect/>
          </a:stretch>
        </p:blipFill>
        <p:spPr>
          <a:xfrm>
            <a:off x="1748333" y="2607869"/>
            <a:ext cx="252374" cy="252374"/>
          </a:xfrm>
          <a:prstGeom prst="rect">
            <a:avLst/>
          </a:prstGeom>
        </p:spPr>
      </p:pic>
      <p:sp>
        <p:nvSpPr>
          <p:cNvPr id="13" name="Text 9"/>
          <p:cNvSpPr/>
          <p:nvPr/>
        </p:nvSpPr>
        <p:spPr>
          <a:xfrm>
            <a:off x="2240280" y="2450592"/>
            <a:ext cx="3657600" cy="292608"/>
          </a:xfrm>
          <a:prstGeom prst="rect">
            <a:avLst/>
          </a:prstGeom>
          <a:noFill/>
          <a:ln/>
        </p:spPr>
        <p:txBody>
          <a:bodyPr wrap="square" lIns="0" tIns="0" rIns="0" bIns="0" rtlCol="0" anchor="ctr"/>
          <a:lstStyle/>
          <a:p>
            <a:pPr marL="0" indent="0">
              <a:buNone/>
            </a:pPr>
            <a:r>
              <a:rPr lang="en-US" sz="1200" b="1" kern="0" spc="80" dirty="0">
                <a:solidFill>
                  <a:srgbClr val="FFFFFF"/>
                </a:solidFill>
                <a:latin typeface="Calibri" pitchFamily="34" charset="0"/>
                <a:ea typeface="Calibri" pitchFamily="34" charset="-122"/>
                <a:cs typeface="Calibri" pitchFamily="34" charset="-120"/>
              </a:rPr>
              <a:t>FRONTEND LAYER</a:t>
            </a:r>
            <a:endParaRPr lang="en-US" sz="1200" dirty="0"/>
          </a:p>
        </p:txBody>
      </p:sp>
      <p:sp>
        <p:nvSpPr>
          <p:cNvPr id="14" name="Text 10"/>
          <p:cNvSpPr/>
          <p:nvPr/>
        </p:nvSpPr>
        <p:spPr>
          <a:xfrm>
            <a:off x="2240280" y="2724912"/>
            <a:ext cx="8229600" cy="320040"/>
          </a:xfrm>
          <a:prstGeom prst="rect">
            <a:avLst/>
          </a:prstGeom>
          <a:noFill/>
          <a:ln/>
        </p:spPr>
        <p:txBody>
          <a:bodyPr wrap="square" lIns="0" tIns="0" rIns="0" bIns="0" rtlCol="0" anchor="ctr"/>
          <a:lstStyle/>
          <a:p>
            <a:pPr marL="0" indent="0">
              <a:buNone/>
            </a:pPr>
            <a:r>
              <a:rPr lang="en-US" sz="1150" dirty="0">
                <a:solidFill>
                  <a:srgbClr val="E4F3F0"/>
                </a:solidFill>
                <a:latin typeface="Calibri" pitchFamily="34" charset="0"/>
                <a:ea typeface="Calibri" pitchFamily="34" charset="-122"/>
                <a:cs typeface="Calibri" pitchFamily="34" charset="-120"/>
              </a:rPr>
              <a:t>React.js</a:t>
            </a:r>
            <a:endParaRPr lang="en-US" sz="1150" dirty="0"/>
          </a:p>
        </p:txBody>
      </p:sp>
      <p:sp>
        <p:nvSpPr>
          <p:cNvPr id="15" name="Shape 11"/>
          <p:cNvSpPr/>
          <p:nvPr/>
        </p:nvSpPr>
        <p:spPr>
          <a:xfrm>
            <a:off x="5980176" y="3108960"/>
            <a:ext cx="201168" cy="164592"/>
          </a:xfrm>
          <a:prstGeom prst="downArrow">
            <a:avLst/>
          </a:prstGeom>
          <a:solidFill>
            <a:srgbClr val="E2643E"/>
          </a:solidFill>
          <a:ln/>
        </p:spPr>
      </p:sp>
      <p:sp>
        <p:nvSpPr>
          <p:cNvPr id="16" name="Shape 12"/>
          <p:cNvSpPr/>
          <p:nvPr/>
        </p:nvSpPr>
        <p:spPr>
          <a:xfrm>
            <a:off x="1463040" y="3291840"/>
            <a:ext cx="9235440" cy="713232"/>
          </a:xfrm>
          <a:prstGeom prst="roundRect">
            <a:avLst>
              <a:gd name="adj" fmla="val 10256"/>
            </a:avLst>
          </a:prstGeom>
          <a:solidFill>
            <a:srgbClr val="0E756B"/>
          </a:solidFill>
          <a:ln/>
        </p:spPr>
      </p:sp>
      <p:sp>
        <p:nvSpPr>
          <p:cNvPr id="17" name="Shape 13"/>
          <p:cNvSpPr/>
          <p:nvPr/>
        </p:nvSpPr>
        <p:spPr>
          <a:xfrm>
            <a:off x="1664208" y="3438144"/>
            <a:ext cx="420624" cy="420624"/>
          </a:xfrm>
          <a:prstGeom prst="ellipse">
            <a:avLst/>
          </a:prstGeom>
          <a:solidFill>
            <a:srgbClr val="FFFFFF">
              <a:alpha val="25000"/>
            </a:srgbClr>
          </a:solidFill>
          <a:ln/>
        </p:spPr>
      </p:sp>
      <p:pic>
        <p:nvPicPr>
          <p:cNvPr id="18" name="Image 2" descr="preencoded.png"/>
          <p:cNvPicPr>
            <a:picLocks noChangeAspect="1"/>
          </p:cNvPicPr>
          <p:nvPr/>
        </p:nvPicPr>
        <p:blipFill>
          <a:blip r:embed="rId5"/>
          <a:stretch>
            <a:fillRect/>
          </a:stretch>
        </p:blipFill>
        <p:spPr>
          <a:xfrm>
            <a:off x="1748333" y="3522269"/>
            <a:ext cx="252374" cy="252374"/>
          </a:xfrm>
          <a:prstGeom prst="rect">
            <a:avLst/>
          </a:prstGeom>
        </p:spPr>
      </p:pic>
      <p:sp>
        <p:nvSpPr>
          <p:cNvPr id="19" name="Text 14"/>
          <p:cNvSpPr/>
          <p:nvPr/>
        </p:nvSpPr>
        <p:spPr>
          <a:xfrm>
            <a:off x="2240280" y="3364992"/>
            <a:ext cx="3657600" cy="292608"/>
          </a:xfrm>
          <a:prstGeom prst="rect">
            <a:avLst/>
          </a:prstGeom>
          <a:noFill/>
          <a:ln/>
        </p:spPr>
        <p:txBody>
          <a:bodyPr wrap="square" lIns="0" tIns="0" rIns="0" bIns="0" rtlCol="0" anchor="ctr"/>
          <a:lstStyle/>
          <a:p>
            <a:pPr marL="0" indent="0">
              <a:buNone/>
            </a:pPr>
            <a:r>
              <a:rPr lang="en-US" sz="1200" b="1" kern="0" spc="80" dirty="0">
                <a:solidFill>
                  <a:srgbClr val="FFFFFF"/>
                </a:solidFill>
                <a:latin typeface="Calibri" pitchFamily="34" charset="0"/>
                <a:ea typeface="Calibri" pitchFamily="34" charset="-122"/>
                <a:cs typeface="Calibri" pitchFamily="34" charset="-120"/>
              </a:rPr>
              <a:t>BACKEND LAYER</a:t>
            </a:r>
            <a:endParaRPr lang="en-US" sz="1200" dirty="0"/>
          </a:p>
        </p:txBody>
      </p:sp>
      <p:sp>
        <p:nvSpPr>
          <p:cNvPr id="20" name="Text 15"/>
          <p:cNvSpPr/>
          <p:nvPr/>
        </p:nvSpPr>
        <p:spPr>
          <a:xfrm>
            <a:off x="2240280" y="3639312"/>
            <a:ext cx="8229600" cy="320040"/>
          </a:xfrm>
          <a:prstGeom prst="rect">
            <a:avLst/>
          </a:prstGeom>
          <a:noFill/>
          <a:ln/>
        </p:spPr>
        <p:txBody>
          <a:bodyPr wrap="square" lIns="0" tIns="0" rIns="0" bIns="0" rtlCol="0" anchor="ctr"/>
          <a:lstStyle/>
          <a:p>
            <a:pPr marL="0" indent="0">
              <a:buNone/>
            </a:pPr>
            <a:r>
              <a:rPr lang="en-US" sz="1150" dirty="0">
                <a:solidFill>
                  <a:srgbClr val="E4F3F0"/>
                </a:solidFill>
                <a:latin typeface="Calibri" pitchFamily="34" charset="0"/>
                <a:ea typeface="Calibri" pitchFamily="34" charset="-122"/>
                <a:cs typeface="Calibri" pitchFamily="34" charset="-120"/>
              </a:rPr>
              <a:t>Node.js + Express.js  •  REST APIs + JWT Authentication</a:t>
            </a:r>
            <a:endParaRPr lang="en-US" sz="1150" dirty="0"/>
          </a:p>
        </p:txBody>
      </p:sp>
      <p:sp>
        <p:nvSpPr>
          <p:cNvPr id="21" name="Shape 16"/>
          <p:cNvSpPr/>
          <p:nvPr/>
        </p:nvSpPr>
        <p:spPr>
          <a:xfrm>
            <a:off x="5980176" y="4023360"/>
            <a:ext cx="201168" cy="164592"/>
          </a:xfrm>
          <a:prstGeom prst="downArrow">
            <a:avLst/>
          </a:prstGeom>
          <a:solidFill>
            <a:srgbClr val="E2643E"/>
          </a:solidFill>
          <a:ln/>
        </p:spPr>
      </p:sp>
      <p:sp>
        <p:nvSpPr>
          <p:cNvPr id="22" name="Shape 17"/>
          <p:cNvSpPr/>
          <p:nvPr/>
        </p:nvSpPr>
        <p:spPr>
          <a:xfrm>
            <a:off x="1463040" y="4206240"/>
            <a:ext cx="9235440" cy="713232"/>
          </a:xfrm>
          <a:prstGeom prst="roundRect">
            <a:avLst>
              <a:gd name="adj" fmla="val 10256"/>
            </a:avLst>
          </a:prstGeom>
          <a:solidFill>
            <a:srgbClr val="0A5C55"/>
          </a:solidFill>
          <a:ln/>
        </p:spPr>
      </p:sp>
      <p:sp>
        <p:nvSpPr>
          <p:cNvPr id="23" name="Shape 18"/>
          <p:cNvSpPr/>
          <p:nvPr/>
        </p:nvSpPr>
        <p:spPr>
          <a:xfrm>
            <a:off x="1664208" y="4352544"/>
            <a:ext cx="420624" cy="420624"/>
          </a:xfrm>
          <a:prstGeom prst="ellipse">
            <a:avLst/>
          </a:prstGeom>
          <a:solidFill>
            <a:srgbClr val="FFFFFF">
              <a:alpha val="25000"/>
            </a:srgbClr>
          </a:solidFill>
          <a:ln/>
        </p:spPr>
      </p:sp>
      <p:pic>
        <p:nvPicPr>
          <p:cNvPr id="24" name="Image 3" descr="preencoded.png"/>
          <p:cNvPicPr>
            <a:picLocks noChangeAspect="1"/>
          </p:cNvPicPr>
          <p:nvPr/>
        </p:nvPicPr>
        <p:blipFill>
          <a:blip r:embed="rId6"/>
          <a:stretch>
            <a:fillRect/>
          </a:stretch>
        </p:blipFill>
        <p:spPr>
          <a:xfrm>
            <a:off x="1748333" y="4436669"/>
            <a:ext cx="252374" cy="252374"/>
          </a:xfrm>
          <a:prstGeom prst="rect">
            <a:avLst/>
          </a:prstGeom>
        </p:spPr>
      </p:pic>
      <p:sp>
        <p:nvSpPr>
          <p:cNvPr id="25" name="Text 19"/>
          <p:cNvSpPr/>
          <p:nvPr/>
        </p:nvSpPr>
        <p:spPr>
          <a:xfrm>
            <a:off x="2240280" y="4279392"/>
            <a:ext cx="3657600" cy="292608"/>
          </a:xfrm>
          <a:prstGeom prst="rect">
            <a:avLst/>
          </a:prstGeom>
          <a:noFill/>
          <a:ln/>
        </p:spPr>
        <p:txBody>
          <a:bodyPr wrap="square" lIns="0" tIns="0" rIns="0" bIns="0" rtlCol="0" anchor="ctr"/>
          <a:lstStyle/>
          <a:p>
            <a:pPr marL="0" indent="0">
              <a:buNone/>
            </a:pPr>
            <a:r>
              <a:rPr lang="en-US" sz="1200" b="1" kern="0" spc="80" dirty="0">
                <a:solidFill>
                  <a:srgbClr val="FFFFFF"/>
                </a:solidFill>
                <a:latin typeface="Calibri" pitchFamily="34" charset="0"/>
                <a:ea typeface="Calibri" pitchFamily="34" charset="-122"/>
                <a:cs typeface="Calibri" pitchFamily="34" charset="-120"/>
              </a:rPr>
              <a:t>DATABASE LAYER</a:t>
            </a:r>
            <a:endParaRPr lang="en-US" sz="1200" dirty="0"/>
          </a:p>
        </p:txBody>
      </p:sp>
      <p:sp>
        <p:nvSpPr>
          <p:cNvPr id="26" name="Text 20"/>
          <p:cNvSpPr/>
          <p:nvPr/>
        </p:nvSpPr>
        <p:spPr>
          <a:xfrm>
            <a:off x="2240280" y="4553712"/>
            <a:ext cx="8229600" cy="320040"/>
          </a:xfrm>
          <a:prstGeom prst="rect">
            <a:avLst/>
          </a:prstGeom>
          <a:noFill/>
          <a:ln/>
        </p:spPr>
        <p:txBody>
          <a:bodyPr wrap="square" lIns="0" tIns="0" rIns="0" bIns="0" rtlCol="0" anchor="ctr"/>
          <a:lstStyle/>
          <a:p>
            <a:pPr marL="0" indent="0">
              <a:buNone/>
            </a:pPr>
            <a:r>
              <a:rPr lang="en-US" sz="1150" dirty="0">
                <a:solidFill>
                  <a:srgbClr val="E4F3F0"/>
                </a:solidFill>
                <a:latin typeface="Calibri" pitchFamily="34" charset="0"/>
                <a:ea typeface="Calibri" pitchFamily="34" charset="-122"/>
                <a:cs typeface="Calibri" pitchFamily="34" charset="-120"/>
              </a:rPr>
              <a:t>MySQL + Sequelize</a:t>
            </a:r>
            <a:endParaRPr lang="en-US" sz="1150" dirty="0"/>
          </a:p>
        </p:txBody>
      </p:sp>
      <p:sp>
        <p:nvSpPr>
          <p:cNvPr id="27" name="Shape 21"/>
          <p:cNvSpPr/>
          <p:nvPr/>
        </p:nvSpPr>
        <p:spPr>
          <a:xfrm>
            <a:off x="5980176" y="4937760"/>
            <a:ext cx="201168" cy="164592"/>
          </a:xfrm>
          <a:prstGeom prst="downArrow">
            <a:avLst/>
          </a:prstGeom>
          <a:solidFill>
            <a:srgbClr val="E2643E"/>
          </a:solidFill>
          <a:ln/>
        </p:spPr>
      </p:sp>
      <p:sp>
        <p:nvSpPr>
          <p:cNvPr id="28" name="Shape 22"/>
          <p:cNvSpPr/>
          <p:nvPr/>
        </p:nvSpPr>
        <p:spPr>
          <a:xfrm>
            <a:off x="1463040" y="5120640"/>
            <a:ext cx="9235440" cy="713232"/>
          </a:xfrm>
          <a:prstGeom prst="roundRect">
            <a:avLst>
              <a:gd name="adj" fmla="val 10256"/>
            </a:avLst>
          </a:prstGeom>
          <a:solidFill>
            <a:srgbClr val="E2643E"/>
          </a:solidFill>
          <a:ln/>
        </p:spPr>
      </p:sp>
      <p:sp>
        <p:nvSpPr>
          <p:cNvPr id="29" name="Shape 23"/>
          <p:cNvSpPr/>
          <p:nvPr/>
        </p:nvSpPr>
        <p:spPr>
          <a:xfrm>
            <a:off x="1664208" y="5266944"/>
            <a:ext cx="420624" cy="420624"/>
          </a:xfrm>
          <a:prstGeom prst="ellipse">
            <a:avLst/>
          </a:prstGeom>
          <a:solidFill>
            <a:srgbClr val="FFFFFF">
              <a:alpha val="25000"/>
            </a:srgbClr>
          </a:solidFill>
          <a:ln/>
        </p:spPr>
      </p:sp>
      <p:pic>
        <p:nvPicPr>
          <p:cNvPr id="30" name="Image 4" descr="preencoded.png"/>
          <p:cNvPicPr>
            <a:picLocks noChangeAspect="1"/>
          </p:cNvPicPr>
          <p:nvPr/>
        </p:nvPicPr>
        <p:blipFill>
          <a:blip r:embed="rId7"/>
          <a:stretch>
            <a:fillRect/>
          </a:stretch>
        </p:blipFill>
        <p:spPr>
          <a:xfrm>
            <a:off x="1748333" y="5351069"/>
            <a:ext cx="252374" cy="252374"/>
          </a:xfrm>
          <a:prstGeom prst="rect">
            <a:avLst/>
          </a:prstGeom>
        </p:spPr>
      </p:pic>
      <p:sp>
        <p:nvSpPr>
          <p:cNvPr id="31" name="Text 24"/>
          <p:cNvSpPr/>
          <p:nvPr/>
        </p:nvSpPr>
        <p:spPr>
          <a:xfrm>
            <a:off x="2240280" y="5193792"/>
            <a:ext cx="3657600" cy="292608"/>
          </a:xfrm>
          <a:prstGeom prst="rect">
            <a:avLst/>
          </a:prstGeom>
          <a:noFill/>
          <a:ln/>
        </p:spPr>
        <p:txBody>
          <a:bodyPr wrap="square" lIns="0" tIns="0" rIns="0" bIns="0" rtlCol="0" anchor="ctr"/>
          <a:lstStyle/>
          <a:p>
            <a:pPr marL="0" indent="0">
              <a:buNone/>
            </a:pPr>
            <a:r>
              <a:rPr lang="en-US" sz="1200" b="1" kern="0" spc="80" dirty="0">
                <a:solidFill>
                  <a:srgbClr val="FFFFFF"/>
                </a:solidFill>
                <a:latin typeface="Calibri" pitchFamily="34" charset="0"/>
                <a:ea typeface="Calibri" pitchFamily="34" charset="-122"/>
                <a:cs typeface="Calibri" pitchFamily="34" charset="-120"/>
              </a:rPr>
              <a:t>EXTERNAL COMMUNICATION</a:t>
            </a:r>
            <a:endParaRPr lang="en-US" sz="1200" dirty="0"/>
          </a:p>
        </p:txBody>
      </p:sp>
      <p:sp>
        <p:nvSpPr>
          <p:cNvPr id="32" name="Text 25"/>
          <p:cNvSpPr/>
          <p:nvPr/>
        </p:nvSpPr>
        <p:spPr>
          <a:xfrm>
            <a:off x="2240280" y="5468112"/>
            <a:ext cx="8229600" cy="320040"/>
          </a:xfrm>
          <a:prstGeom prst="rect">
            <a:avLst/>
          </a:prstGeom>
          <a:noFill/>
          <a:ln/>
        </p:spPr>
        <p:txBody>
          <a:bodyPr wrap="square" lIns="0" tIns="0" rIns="0" bIns="0" rtlCol="0" anchor="ctr"/>
          <a:lstStyle/>
          <a:p>
            <a:pPr marL="0" indent="0">
              <a:buNone/>
            </a:pPr>
            <a:r>
              <a:rPr lang="en-US" sz="1150" dirty="0">
                <a:solidFill>
                  <a:srgbClr val="E4F3F0"/>
                </a:solidFill>
                <a:latin typeface="Calibri" pitchFamily="34" charset="0"/>
                <a:ea typeface="Calibri" pitchFamily="34" charset="-122"/>
                <a:cs typeface="Calibri" pitchFamily="34" charset="-120"/>
              </a:rPr>
              <a:t>Twilio Notifications (SMS)</a:t>
            </a:r>
            <a:endParaRPr lang="en-US" sz="1150" dirty="0"/>
          </a:p>
        </p:txBody>
      </p:sp>
      <p:sp>
        <p:nvSpPr>
          <p:cNvPr id="33" name="Text 26"/>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54706B"/>
                </a:solidFill>
                <a:latin typeface="Calibri" pitchFamily="34" charset="0"/>
                <a:ea typeface="Calibri" pitchFamily="34" charset="-122"/>
                <a:cs typeface="Calibri" pitchFamily="34" charset="-120"/>
              </a:rPr>
              <a:t>Hospital Management &amp; Appointment System</a:t>
            </a:r>
            <a:endParaRPr lang="en-US" sz="900" dirty="0"/>
          </a:p>
        </p:txBody>
      </p:sp>
      <p:sp>
        <p:nvSpPr>
          <p:cNvPr id="34" name="Text 2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4706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2643E"/>
                </a:solidFill>
                <a:latin typeface="Calibri" pitchFamily="34" charset="0"/>
                <a:ea typeface="Calibri" pitchFamily="34" charset="-122"/>
                <a:cs typeface="Calibri" pitchFamily="34" charset="-120"/>
              </a:rPr>
              <a:t>OUR GOALS</a:t>
            </a:r>
            <a:endParaRPr lang="en-US" sz="1200" dirty="0"/>
          </a:p>
        </p:txBody>
      </p:sp>
      <p:sp>
        <p:nvSpPr>
          <p:cNvPr id="3" name="Text 1"/>
          <p:cNvSpPr/>
          <p:nvPr/>
        </p:nvSpPr>
        <p:spPr>
          <a:xfrm>
            <a:off x="548640" y="621792"/>
            <a:ext cx="9875520" cy="685800"/>
          </a:xfrm>
          <a:prstGeom prst="rect">
            <a:avLst/>
          </a:prstGeom>
          <a:noFill/>
          <a:ln/>
        </p:spPr>
        <p:txBody>
          <a:bodyPr wrap="square" lIns="0" tIns="0" rIns="0" bIns="0" rtlCol="0" anchor="ctr"/>
          <a:lstStyle/>
          <a:p>
            <a:pPr marL="0" indent="0">
              <a:buNone/>
            </a:pPr>
            <a:r>
              <a:rPr lang="en-US" sz="3200" b="1" dirty="0">
                <a:solidFill>
                  <a:srgbClr val="07423D"/>
                </a:solidFill>
                <a:latin typeface="Cambria" pitchFamily="34" charset="0"/>
                <a:ea typeface="Cambria" pitchFamily="34" charset="-122"/>
                <a:cs typeface="Cambria" pitchFamily="34" charset="-120"/>
              </a:rPr>
              <a:t>Objectives</a:t>
            </a:r>
            <a:endParaRPr lang="en-US" sz="3200" dirty="0"/>
          </a:p>
        </p:txBody>
      </p:sp>
      <p:sp>
        <p:nvSpPr>
          <p:cNvPr id="4" name="Shape 2"/>
          <p:cNvSpPr/>
          <p:nvPr/>
        </p:nvSpPr>
        <p:spPr>
          <a:xfrm>
            <a:off x="548640" y="1463040"/>
            <a:ext cx="3566160" cy="1280160"/>
          </a:xfrm>
          <a:prstGeom prst="roundRect">
            <a:avLst>
              <a:gd name="adj" fmla="val 6429"/>
            </a:avLst>
          </a:prstGeom>
          <a:solidFill>
            <a:srgbClr val="EDF6F4"/>
          </a:solidFill>
          <a:ln w="12700">
            <a:solidFill>
              <a:srgbClr val="D3E9E5"/>
            </a:solidFill>
            <a:prstDash val="solid"/>
          </a:ln>
        </p:spPr>
      </p:sp>
      <p:sp>
        <p:nvSpPr>
          <p:cNvPr id="5" name="Shape 3"/>
          <p:cNvSpPr/>
          <p:nvPr/>
        </p:nvSpPr>
        <p:spPr>
          <a:xfrm>
            <a:off x="731520" y="1828800"/>
            <a:ext cx="548640" cy="548640"/>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854964" y="1952244"/>
            <a:ext cx="301752" cy="301752"/>
          </a:xfrm>
          <a:prstGeom prst="rect">
            <a:avLst/>
          </a:prstGeom>
        </p:spPr>
      </p:pic>
      <p:sp>
        <p:nvSpPr>
          <p:cNvPr id="7" name="Text 4"/>
          <p:cNvSpPr/>
          <p:nvPr/>
        </p:nvSpPr>
        <p:spPr>
          <a:xfrm>
            <a:off x="1417320" y="1463040"/>
            <a:ext cx="2560320" cy="1280160"/>
          </a:xfrm>
          <a:prstGeom prst="rect">
            <a:avLst/>
          </a:prstGeom>
          <a:noFill/>
          <a:ln/>
        </p:spPr>
        <p:txBody>
          <a:bodyPr wrap="square" lIns="0" tIns="0" rIns="0" bIns="0" rtlCol="0" anchor="ctr"/>
          <a:lstStyle/>
          <a:p>
            <a:pPr marL="0" indent="0">
              <a:lnSpc>
                <a:spcPct val="110000"/>
              </a:lnSpc>
              <a:buNone/>
            </a:pPr>
            <a:r>
              <a:rPr lang="en-US" sz="1300" b="1" dirty="0">
                <a:solidFill>
                  <a:srgbClr val="15302C"/>
                </a:solidFill>
                <a:latin typeface="Calibri" pitchFamily="34" charset="0"/>
                <a:ea typeface="Calibri" pitchFamily="34" charset="-122"/>
                <a:cs typeface="Calibri" pitchFamily="34" charset="-120"/>
              </a:rPr>
              <a:t>Simplify patient registration &amp; profiles</a:t>
            </a:r>
            <a:endParaRPr lang="en-US" sz="1300" dirty="0"/>
          </a:p>
        </p:txBody>
      </p:sp>
      <p:sp>
        <p:nvSpPr>
          <p:cNvPr id="8" name="Shape 5"/>
          <p:cNvSpPr/>
          <p:nvPr/>
        </p:nvSpPr>
        <p:spPr>
          <a:xfrm>
            <a:off x="4261104" y="1463040"/>
            <a:ext cx="3566160" cy="1280160"/>
          </a:xfrm>
          <a:prstGeom prst="roundRect">
            <a:avLst>
              <a:gd name="adj" fmla="val 6429"/>
            </a:avLst>
          </a:prstGeom>
          <a:solidFill>
            <a:srgbClr val="EDF6F4"/>
          </a:solidFill>
          <a:ln w="12700">
            <a:solidFill>
              <a:srgbClr val="D3E9E5"/>
            </a:solidFill>
            <a:prstDash val="solid"/>
          </a:ln>
        </p:spPr>
      </p:sp>
      <p:sp>
        <p:nvSpPr>
          <p:cNvPr id="9" name="Shape 6"/>
          <p:cNvSpPr/>
          <p:nvPr/>
        </p:nvSpPr>
        <p:spPr>
          <a:xfrm>
            <a:off x="4443984" y="1828800"/>
            <a:ext cx="548640" cy="548640"/>
          </a:xfrm>
          <a:prstGeom prst="ellipse">
            <a:avLst/>
          </a:prstGeom>
          <a:solidFill>
            <a:srgbClr val="FFFFFF"/>
          </a:solidFill>
          <a:ln/>
        </p:spPr>
      </p:sp>
      <p:pic>
        <p:nvPicPr>
          <p:cNvPr id="10" name="Image 1" descr="preencoded.png"/>
          <p:cNvPicPr>
            <a:picLocks noChangeAspect="1"/>
          </p:cNvPicPr>
          <p:nvPr/>
        </p:nvPicPr>
        <p:blipFill>
          <a:blip r:embed="rId4"/>
          <a:stretch>
            <a:fillRect/>
          </a:stretch>
        </p:blipFill>
        <p:spPr>
          <a:xfrm>
            <a:off x="4567428" y="1952244"/>
            <a:ext cx="301752" cy="301752"/>
          </a:xfrm>
          <a:prstGeom prst="rect">
            <a:avLst/>
          </a:prstGeom>
        </p:spPr>
      </p:pic>
      <p:sp>
        <p:nvSpPr>
          <p:cNvPr id="11" name="Text 7"/>
          <p:cNvSpPr/>
          <p:nvPr/>
        </p:nvSpPr>
        <p:spPr>
          <a:xfrm>
            <a:off x="5129784" y="1463040"/>
            <a:ext cx="2560320" cy="1280160"/>
          </a:xfrm>
          <a:prstGeom prst="rect">
            <a:avLst/>
          </a:prstGeom>
          <a:noFill/>
          <a:ln/>
        </p:spPr>
        <p:txBody>
          <a:bodyPr wrap="square" lIns="0" tIns="0" rIns="0" bIns="0" rtlCol="0" anchor="ctr"/>
          <a:lstStyle/>
          <a:p>
            <a:pPr marL="0" indent="0">
              <a:lnSpc>
                <a:spcPct val="110000"/>
              </a:lnSpc>
              <a:buNone/>
            </a:pPr>
            <a:r>
              <a:rPr lang="en-US" sz="1300" b="1" dirty="0">
                <a:solidFill>
                  <a:srgbClr val="15302C"/>
                </a:solidFill>
                <a:latin typeface="Calibri" pitchFamily="34" charset="0"/>
                <a:ea typeface="Calibri" pitchFamily="34" charset="-122"/>
                <a:cs typeface="Calibri" pitchFamily="34" charset="-120"/>
              </a:rPr>
              <a:t>Reduce patient waiting time</a:t>
            </a:r>
            <a:endParaRPr lang="en-US" sz="1300" dirty="0"/>
          </a:p>
        </p:txBody>
      </p:sp>
      <p:sp>
        <p:nvSpPr>
          <p:cNvPr id="12" name="Shape 8"/>
          <p:cNvSpPr/>
          <p:nvPr/>
        </p:nvSpPr>
        <p:spPr>
          <a:xfrm>
            <a:off x="7973568" y="1463040"/>
            <a:ext cx="3566160" cy="1280160"/>
          </a:xfrm>
          <a:prstGeom prst="roundRect">
            <a:avLst>
              <a:gd name="adj" fmla="val 6429"/>
            </a:avLst>
          </a:prstGeom>
          <a:solidFill>
            <a:srgbClr val="EDF6F4"/>
          </a:solidFill>
          <a:ln w="12700">
            <a:solidFill>
              <a:srgbClr val="D3E9E5"/>
            </a:solidFill>
            <a:prstDash val="solid"/>
          </a:ln>
        </p:spPr>
      </p:sp>
      <p:sp>
        <p:nvSpPr>
          <p:cNvPr id="13" name="Shape 9"/>
          <p:cNvSpPr/>
          <p:nvPr/>
        </p:nvSpPr>
        <p:spPr>
          <a:xfrm>
            <a:off x="8156448" y="1828800"/>
            <a:ext cx="548640" cy="548640"/>
          </a:xfrm>
          <a:prstGeom prst="ellipse">
            <a:avLst/>
          </a:prstGeom>
          <a:solidFill>
            <a:srgbClr val="FFFFFF"/>
          </a:solidFill>
          <a:ln/>
        </p:spPr>
      </p:sp>
      <p:pic>
        <p:nvPicPr>
          <p:cNvPr id="14" name="Image 2" descr="preencoded.png"/>
          <p:cNvPicPr>
            <a:picLocks noChangeAspect="1"/>
          </p:cNvPicPr>
          <p:nvPr/>
        </p:nvPicPr>
        <p:blipFill>
          <a:blip r:embed="rId5"/>
          <a:stretch>
            <a:fillRect/>
          </a:stretch>
        </p:blipFill>
        <p:spPr>
          <a:xfrm>
            <a:off x="8279892" y="1952244"/>
            <a:ext cx="301752" cy="301752"/>
          </a:xfrm>
          <a:prstGeom prst="rect">
            <a:avLst/>
          </a:prstGeom>
        </p:spPr>
      </p:pic>
      <p:sp>
        <p:nvSpPr>
          <p:cNvPr id="15" name="Text 10"/>
          <p:cNvSpPr/>
          <p:nvPr/>
        </p:nvSpPr>
        <p:spPr>
          <a:xfrm>
            <a:off x="8842248" y="1463040"/>
            <a:ext cx="2560320" cy="1280160"/>
          </a:xfrm>
          <a:prstGeom prst="rect">
            <a:avLst/>
          </a:prstGeom>
          <a:noFill/>
          <a:ln/>
        </p:spPr>
        <p:txBody>
          <a:bodyPr wrap="square" lIns="0" tIns="0" rIns="0" bIns="0" rtlCol="0" anchor="ctr"/>
          <a:lstStyle/>
          <a:p>
            <a:pPr marL="0" indent="0">
              <a:lnSpc>
                <a:spcPct val="110000"/>
              </a:lnSpc>
              <a:buNone/>
            </a:pPr>
            <a:r>
              <a:rPr lang="en-US" sz="1300" b="1" dirty="0">
                <a:solidFill>
                  <a:srgbClr val="15302C"/>
                </a:solidFill>
                <a:latin typeface="Calibri" pitchFamily="34" charset="0"/>
                <a:ea typeface="Calibri" pitchFamily="34" charset="-122"/>
                <a:cs typeface="Calibri" pitchFamily="34" charset="-120"/>
              </a:rPr>
              <a:t>Minimise manual data entry errors</a:t>
            </a:r>
            <a:endParaRPr lang="en-US" sz="1300" dirty="0"/>
          </a:p>
        </p:txBody>
      </p:sp>
      <p:sp>
        <p:nvSpPr>
          <p:cNvPr id="16" name="Shape 11"/>
          <p:cNvSpPr/>
          <p:nvPr/>
        </p:nvSpPr>
        <p:spPr>
          <a:xfrm>
            <a:off x="548640" y="2889504"/>
            <a:ext cx="3566160" cy="1280160"/>
          </a:xfrm>
          <a:prstGeom prst="roundRect">
            <a:avLst>
              <a:gd name="adj" fmla="val 6429"/>
            </a:avLst>
          </a:prstGeom>
          <a:solidFill>
            <a:srgbClr val="EDF6F4"/>
          </a:solidFill>
          <a:ln w="12700">
            <a:solidFill>
              <a:srgbClr val="D3E9E5"/>
            </a:solidFill>
            <a:prstDash val="solid"/>
          </a:ln>
        </p:spPr>
      </p:sp>
      <p:sp>
        <p:nvSpPr>
          <p:cNvPr id="17" name="Shape 12"/>
          <p:cNvSpPr/>
          <p:nvPr/>
        </p:nvSpPr>
        <p:spPr>
          <a:xfrm>
            <a:off x="731520" y="3255264"/>
            <a:ext cx="548640" cy="548640"/>
          </a:xfrm>
          <a:prstGeom prst="ellipse">
            <a:avLst/>
          </a:prstGeom>
          <a:solidFill>
            <a:srgbClr val="FFFFFF"/>
          </a:solidFill>
          <a:ln/>
        </p:spPr>
      </p:sp>
      <p:pic>
        <p:nvPicPr>
          <p:cNvPr id="18" name="Image 3" descr="preencoded.png"/>
          <p:cNvPicPr>
            <a:picLocks noChangeAspect="1"/>
          </p:cNvPicPr>
          <p:nvPr/>
        </p:nvPicPr>
        <p:blipFill>
          <a:blip r:embed="rId6"/>
          <a:stretch>
            <a:fillRect/>
          </a:stretch>
        </p:blipFill>
        <p:spPr>
          <a:xfrm>
            <a:off x="854964" y="3378708"/>
            <a:ext cx="301752" cy="301752"/>
          </a:xfrm>
          <a:prstGeom prst="rect">
            <a:avLst/>
          </a:prstGeom>
        </p:spPr>
      </p:pic>
      <p:sp>
        <p:nvSpPr>
          <p:cNvPr id="19" name="Text 13"/>
          <p:cNvSpPr/>
          <p:nvPr/>
        </p:nvSpPr>
        <p:spPr>
          <a:xfrm>
            <a:off x="1417320" y="2889504"/>
            <a:ext cx="2560320" cy="1280160"/>
          </a:xfrm>
          <a:prstGeom prst="rect">
            <a:avLst/>
          </a:prstGeom>
          <a:noFill/>
          <a:ln/>
        </p:spPr>
        <p:txBody>
          <a:bodyPr wrap="square" lIns="0" tIns="0" rIns="0" bIns="0" rtlCol="0" anchor="ctr"/>
          <a:lstStyle/>
          <a:p>
            <a:pPr marL="0" indent="0">
              <a:lnSpc>
                <a:spcPct val="110000"/>
              </a:lnSpc>
              <a:buNone/>
            </a:pPr>
            <a:r>
              <a:rPr lang="en-US" sz="1300" b="1" dirty="0">
                <a:solidFill>
                  <a:srgbClr val="15302C"/>
                </a:solidFill>
                <a:latin typeface="Calibri" pitchFamily="34" charset="0"/>
                <a:ea typeface="Calibri" pitchFamily="34" charset="-122"/>
                <a:cs typeface="Calibri" pitchFamily="34" charset="-120"/>
              </a:rPr>
              <a:t>Improve coordination between departments</a:t>
            </a:r>
            <a:endParaRPr lang="en-US" sz="1300" dirty="0"/>
          </a:p>
        </p:txBody>
      </p:sp>
      <p:sp>
        <p:nvSpPr>
          <p:cNvPr id="20" name="Shape 14"/>
          <p:cNvSpPr/>
          <p:nvPr/>
        </p:nvSpPr>
        <p:spPr>
          <a:xfrm>
            <a:off x="4261104" y="2889504"/>
            <a:ext cx="3566160" cy="1280160"/>
          </a:xfrm>
          <a:prstGeom prst="roundRect">
            <a:avLst>
              <a:gd name="adj" fmla="val 6429"/>
            </a:avLst>
          </a:prstGeom>
          <a:solidFill>
            <a:srgbClr val="EDF6F4"/>
          </a:solidFill>
          <a:ln w="12700">
            <a:solidFill>
              <a:srgbClr val="D3E9E5"/>
            </a:solidFill>
            <a:prstDash val="solid"/>
          </a:ln>
        </p:spPr>
      </p:sp>
      <p:sp>
        <p:nvSpPr>
          <p:cNvPr id="21" name="Shape 15"/>
          <p:cNvSpPr/>
          <p:nvPr/>
        </p:nvSpPr>
        <p:spPr>
          <a:xfrm>
            <a:off x="4443984" y="3255264"/>
            <a:ext cx="548640" cy="548640"/>
          </a:xfrm>
          <a:prstGeom prst="ellipse">
            <a:avLst/>
          </a:prstGeom>
          <a:solidFill>
            <a:srgbClr val="FFFFFF"/>
          </a:solidFill>
          <a:ln/>
        </p:spPr>
      </p:sp>
      <p:pic>
        <p:nvPicPr>
          <p:cNvPr id="22" name="Image 4" descr="preencoded.png"/>
          <p:cNvPicPr>
            <a:picLocks noChangeAspect="1"/>
          </p:cNvPicPr>
          <p:nvPr/>
        </p:nvPicPr>
        <p:blipFill>
          <a:blip r:embed="rId7"/>
          <a:stretch>
            <a:fillRect/>
          </a:stretch>
        </p:blipFill>
        <p:spPr>
          <a:xfrm>
            <a:off x="4567428" y="3378708"/>
            <a:ext cx="301752" cy="301752"/>
          </a:xfrm>
          <a:prstGeom prst="rect">
            <a:avLst/>
          </a:prstGeom>
        </p:spPr>
      </p:pic>
      <p:sp>
        <p:nvSpPr>
          <p:cNvPr id="23" name="Text 16"/>
          <p:cNvSpPr/>
          <p:nvPr/>
        </p:nvSpPr>
        <p:spPr>
          <a:xfrm>
            <a:off x="5129784" y="2889504"/>
            <a:ext cx="2560320" cy="1280160"/>
          </a:xfrm>
          <a:prstGeom prst="rect">
            <a:avLst/>
          </a:prstGeom>
          <a:noFill/>
          <a:ln/>
        </p:spPr>
        <p:txBody>
          <a:bodyPr wrap="square" lIns="0" tIns="0" rIns="0" bIns="0" rtlCol="0" anchor="ctr"/>
          <a:lstStyle/>
          <a:p>
            <a:pPr marL="0" indent="0">
              <a:lnSpc>
                <a:spcPct val="110000"/>
              </a:lnSpc>
              <a:buNone/>
            </a:pPr>
            <a:r>
              <a:rPr lang="en-US" sz="1300" b="1" dirty="0">
                <a:solidFill>
                  <a:srgbClr val="15302C"/>
                </a:solidFill>
                <a:latin typeface="Calibri" pitchFamily="34" charset="0"/>
                <a:ea typeface="Calibri" pitchFamily="34" charset="-122"/>
                <a:cs typeface="Calibri" pitchFamily="34" charset="-120"/>
              </a:rPr>
              <a:t>Enable real-time EMR access for doctors</a:t>
            </a:r>
            <a:endParaRPr lang="en-US" sz="1300" dirty="0"/>
          </a:p>
        </p:txBody>
      </p:sp>
      <p:sp>
        <p:nvSpPr>
          <p:cNvPr id="24" name="Shape 17"/>
          <p:cNvSpPr/>
          <p:nvPr/>
        </p:nvSpPr>
        <p:spPr>
          <a:xfrm>
            <a:off x="7973568" y="2889504"/>
            <a:ext cx="3566160" cy="1280160"/>
          </a:xfrm>
          <a:prstGeom prst="roundRect">
            <a:avLst>
              <a:gd name="adj" fmla="val 6429"/>
            </a:avLst>
          </a:prstGeom>
          <a:solidFill>
            <a:srgbClr val="EDF6F4"/>
          </a:solidFill>
          <a:ln w="12700">
            <a:solidFill>
              <a:srgbClr val="D3E9E5"/>
            </a:solidFill>
            <a:prstDash val="solid"/>
          </a:ln>
        </p:spPr>
      </p:sp>
      <p:sp>
        <p:nvSpPr>
          <p:cNvPr id="25" name="Shape 18"/>
          <p:cNvSpPr/>
          <p:nvPr/>
        </p:nvSpPr>
        <p:spPr>
          <a:xfrm>
            <a:off x="8156448" y="3255264"/>
            <a:ext cx="548640" cy="548640"/>
          </a:xfrm>
          <a:prstGeom prst="ellipse">
            <a:avLst/>
          </a:prstGeom>
          <a:solidFill>
            <a:srgbClr val="FFFFFF"/>
          </a:solidFill>
          <a:ln/>
        </p:spPr>
      </p:sp>
      <p:pic>
        <p:nvPicPr>
          <p:cNvPr id="26" name="Image 5" descr="preencoded.png"/>
          <p:cNvPicPr>
            <a:picLocks noChangeAspect="1"/>
          </p:cNvPicPr>
          <p:nvPr/>
        </p:nvPicPr>
        <p:blipFill>
          <a:blip r:embed="rId8"/>
          <a:stretch>
            <a:fillRect/>
          </a:stretch>
        </p:blipFill>
        <p:spPr>
          <a:xfrm>
            <a:off x="8279892" y="3378708"/>
            <a:ext cx="301752" cy="301752"/>
          </a:xfrm>
          <a:prstGeom prst="rect">
            <a:avLst/>
          </a:prstGeom>
        </p:spPr>
      </p:pic>
      <p:sp>
        <p:nvSpPr>
          <p:cNvPr id="27" name="Text 19"/>
          <p:cNvSpPr/>
          <p:nvPr/>
        </p:nvSpPr>
        <p:spPr>
          <a:xfrm>
            <a:off x="8842248" y="2889504"/>
            <a:ext cx="2560320" cy="1280160"/>
          </a:xfrm>
          <a:prstGeom prst="rect">
            <a:avLst/>
          </a:prstGeom>
          <a:noFill/>
          <a:ln/>
        </p:spPr>
        <p:txBody>
          <a:bodyPr wrap="square" lIns="0" tIns="0" rIns="0" bIns="0" rtlCol="0" anchor="ctr"/>
          <a:lstStyle/>
          <a:p>
            <a:pPr marL="0" indent="0">
              <a:lnSpc>
                <a:spcPct val="110000"/>
              </a:lnSpc>
              <a:buNone/>
            </a:pPr>
            <a:r>
              <a:rPr lang="en-US" sz="1300" b="1" dirty="0">
                <a:solidFill>
                  <a:srgbClr val="15302C"/>
                </a:solidFill>
                <a:latin typeface="Calibri" pitchFamily="34" charset="0"/>
                <a:ea typeface="Calibri" pitchFamily="34" charset="-122"/>
                <a:cs typeface="Calibri" pitchFamily="34" charset="-120"/>
              </a:rPr>
              <a:t>Streamline appointment booking &amp; scheduling</a:t>
            </a:r>
            <a:endParaRPr lang="en-US" sz="1300" dirty="0"/>
          </a:p>
        </p:txBody>
      </p:sp>
      <p:sp>
        <p:nvSpPr>
          <p:cNvPr id="28" name="Shape 20"/>
          <p:cNvSpPr/>
          <p:nvPr/>
        </p:nvSpPr>
        <p:spPr>
          <a:xfrm>
            <a:off x="548640" y="4315968"/>
            <a:ext cx="3566160" cy="1280160"/>
          </a:xfrm>
          <a:prstGeom prst="roundRect">
            <a:avLst>
              <a:gd name="adj" fmla="val 6429"/>
            </a:avLst>
          </a:prstGeom>
          <a:solidFill>
            <a:srgbClr val="EDF6F4"/>
          </a:solidFill>
          <a:ln w="12700">
            <a:solidFill>
              <a:srgbClr val="D3E9E5"/>
            </a:solidFill>
            <a:prstDash val="solid"/>
          </a:ln>
        </p:spPr>
      </p:sp>
      <p:sp>
        <p:nvSpPr>
          <p:cNvPr id="29" name="Shape 21"/>
          <p:cNvSpPr/>
          <p:nvPr/>
        </p:nvSpPr>
        <p:spPr>
          <a:xfrm>
            <a:off x="731520" y="4681728"/>
            <a:ext cx="548640" cy="548640"/>
          </a:xfrm>
          <a:prstGeom prst="ellipse">
            <a:avLst/>
          </a:prstGeom>
          <a:solidFill>
            <a:srgbClr val="FFFFFF"/>
          </a:solidFill>
          <a:ln/>
        </p:spPr>
      </p:sp>
      <p:pic>
        <p:nvPicPr>
          <p:cNvPr id="30" name="Image 6" descr="preencoded.png"/>
          <p:cNvPicPr>
            <a:picLocks noChangeAspect="1"/>
          </p:cNvPicPr>
          <p:nvPr/>
        </p:nvPicPr>
        <p:blipFill>
          <a:blip r:embed="rId9"/>
          <a:stretch>
            <a:fillRect/>
          </a:stretch>
        </p:blipFill>
        <p:spPr>
          <a:xfrm>
            <a:off x="854964" y="4805172"/>
            <a:ext cx="301752" cy="301752"/>
          </a:xfrm>
          <a:prstGeom prst="rect">
            <a:avLst/>
          </a:prstGeom>
        </p:spPr>
      </p:pic>
      <p:sp>
        <p:nvSpPr>
          <p:cNvPr id="31" name="Text 22"/>
          <p:cNvSpPr/>
          <p:nvPr/>
        </p:nvSpPr>
        <p:spPr>
          <a:xfrm>
            <a:off x="1417320" y="4315968"/>
            <a:ext cx="2560320" cy="1280160"/>
          </a:xfrm>
          <a:prstGeom prst="rect">
            <a:avLst/>
          </a:prstGeom>
          <a:noFill/>
          <a:ln/>
        </p:spPr>
        <p:txBody>
          <a:bodyPr wrap="square" lIns="0" tIns="0" rIns="0" bIns="0" rtlCol="0" anchor="ctr"/>
          <a:lstStyle/>
          <a:p>
            <a:pPr marL="0" indent="0">
              <a:lnSpc>
                <a:spcPct val="110000"/>
              </a:lnSpc>
              <a:buNone/>
            </a:pPr>
            <a:r>
              <a:rPr lang="en-US" sz="1300" b="1" dirty="0">
                <a:solidFill>
                  <a:srgbClr val="15302C"/>
                </a:solidFill>
                <a:latin typeface="Calibri" pitchFamily="34" charset="0"/>
                <a:ea typeface="Calibri" pitchFamily="34" charset="-122"/>
                <a:cs typeface="Calibri" pitchFamily="34" charset="-120"/>
              </a:rPr>
              <a:t>Centralise hospital administration &amp; monitoring</a:t>
            </a:r>
            <a:endParaRPr lang="en-US" sz="1300" dirty="0"/>
          </a:p>
        </p:txBody>
      </p:sp>
      <p:sp>
        <p:nvSpPr>
          <p:cNvPr id="32" name="Shape 23"/>
          <p:cNvSpPr/>
          <p:nvPr/>
        </p:nvSpPr>
        <p:spPr>
          <a:xfrm>
            <a:off x="4261104" y="4315968"/>
            <a:ext cx="3566160" cy="1280160"/>
          </a:xfrm>
          <a:prstGeom prst="roundRect">
            <a:avLst>
              <a:gd name="adj" fmla="val 6429"/>
            </a:avLst>
          </a:prstGeom>
          <a:solidFill>
            <a:srgbClr val="EDF6F4"/>
          </a:solidFill>
          <a:ln w="12700">
            <a:solidFill>
              <a:srgbClr val="D3E9E5"/>
            </a:solidFill>
            <a:prstDash val="solid"/>
          </a:ln>
        </p:spPr>
      </p:sp>
      <p:sp>
        <p:nvSpPr>
          <p:cNvPr id="33" name="Shape 24"/>
          <p:cNvSpPr/>
          <p:nvPr/>
        </p:nvSpPr>
        <p:spPr>
          <a:xfrm>
            <a:off x="4443984" y="4681728"/>
            <a:ext cx="548640" cy="548640"/>
          </a:xfrm>
          <a:prstGeom prst="ellipse">
            <a:avLst/>
          </a:prstGeom>
          <a:solidFill>
            <a:srgbClr val="FFFFFF"/>
          </a:solidFill>
          <a:ln/>
        </p:spPr>
      </p:sp>
      <p:pic>
        <p:nvPicPr>
          <p:cNvPr id="34" name="Image 7" descr="preencoded.png"/>
          <p:cNvPicPr>
            <a:picLocks noChangeAspect="1"/>
          </p:cNvPicPr>
          <p:nvPr/>
        </p:nvPicPr>
        <p:blipFill>
          <a:blip r:embed="rId10"/>
          <a:stretch>
            <a:fillRect/>
          </a:stretch>
        </p:blipFill>
        <p:spPr>
          <a:xfrm>
            <a:off x="4567428" y="4805172"/>
            <a:ext cx="301752" cy="301752"/>
          </a:xfrm>
          <a:prstGeom prst="rect">
            <a:avLst/>
          </a:prstGeom>
        </p:spPr>
      </p:pic>
      <p:sp>
        <p:nvSpPr>
          <p:cNvPr id="35" name="Text 25"/>
          <p:cNvSpPr/>
          <p:nvPr/>
        </p:nvSpPr>
        <p:spPr>
          <a:xfrm>
            <a:off x="5129784" y="4315968"/>
            <a:ext cx="2560320" cy="1280160"/>
          </a:xfrm>
          <a:prstGeom prst="rect">
            <a:avLst/>
          </a:prstGeom>
          <a:noFill/>
          <a:ln/>
        </p:spPr>
        <p:txBody>
          <a:bodyPr wrap="square" lIns="0" tIns="0" rIns="0" bIns="0" rtlCol="0" anchor="ctr"/>
          <a:lstStyle/>
          <a:p>
            <a:pPr marL="0" indent="0">
              <a:lnSpc>
                <a:spcPct val="110000"/>
              </a:lnSpc>
              <a:buNone/>
            </a:pPr>
            <a:r>
              <a:rPr lang="en-US" sz="1300" b="1" dirty="0">
                <a:solidFill>
                  <a:srgbClr val="15302C"/>
                </a:solidFill>
                <a:latin typeface="Calibri" pitchFamily="34" charset="0"/>
                <a:ea typeface="Calibri" pitchFamily="34" charset="-122"/>
                <a:cs typeface="Calibri" pitchFamily="34" charset="-120"/>
              </a:rPr>
              <a:t>Integrate pharmacy &amp; inventory tracking</a:t>
            </a:r>
            <a:endParaRPr lang="en-US" sz="1300" dirty="0"/>
          </a:p>
        </p:txBody>
      </p:sp>
      <p:sp>
        <p:nvSpPr>
          <p:cNvPr id="36" name="Shape 26"/>
          <p:cNvSpPr/>
          <p:nvPr/>
        </p:nvSpPr>
        <p:spPr>
          <a:xfrm>
            <a:off x="7973568" y="4315968"/>
            <a:ext cx="3566160" cy="1280160"/>
          </a:xfrm>
          <a:prstGeom prst="roundRect">
            <a:avLst>
              <a:gd name="adj" fmla="val 6429"/>
            </a:avLst>
          </a:prstGeom>
          <a:solidFill>
            <a:srgbClr val="EDF6F4"/>
          </a:solidFill>
          <a:ln w="12700">
            <a:solidFill>
              <a:srgbClr val="D3E9E5"/>
            </a:solidFill>
            <a:prstDash val="solid"/>
          </a:ln>
        </p:spPr>
      </p:sp>
      <p:sp>
        <p:nvSpPr>
          <p:cNvPr id="37" name="Shape 27"/>
          <p:cNvSpPr/>
          <p:nvPr/>
        </p:nvSpPr>
        <p:spPr>
          <a:xfrm>
            <a:off x="8156448" y="4681728"/>
            <a:ext cx="548640" cy="548640"/>
          </a:xfrm>
          <a:prstGeom prst="ellipse">
            <a:avLst/>
          </a:prstGeom>
          <a:solidFill>
            <a:srgbClr val="FFFFFF"/>
          </a:solidFill>
          <a:ln/>
        </p:spPr>
      </p:sp>
      <p:pic>
        <p:nvPicPr>
          <p:cNvPr id="38" name="Image 8" descr="preencoded.png"/>
          <p:cNvPicPr>
            <a:picLocks noChangeAspect="1"/>
          </p:cNvPicPr>
          <p:nvPr/>
        </p:nvPicPr>
        <p:blipFill>
          <a:blip r:embed="rId11"/>
          <a:stretch>
            <a:fillRect/>
          </a:stretch>
        </p:blipFill>
        <p:spPr>
          <a:xfrm>
            <a:off x="8279892" y="4805172"/>
            <a:ext cx="301752" cy="301752"/>
          </a:xfrm>
          <a:prstGeom prst="rect">
            <a:avLst/>
          </a:prstGeom>
        </p:spPr>
      </p:pic>
      <p:sp>
        <p:nvSpPr>
          <p:cNvPr id="39" name="Text 28"/>
          <p:cNvSpPr/>
          <p:nvPr/>
        </p:nvSpPr>
        <p:spPr>
          <a:xfrm>
            <a:off x="8842248" y="4315968"/>
            <a:ext cx="2560320" cy="1280160"/>
          </a:xfrm>
          <a:prstGeom prst="rect">
            <a:avLst/>
          </a:prstGeom>
          <a:noFill/>
          <a:ln/>
        </p:spPr>
        <p:txBody>
          <a:bodyPr wrap="square" lIns="0" tIns="0" rIns="0" bIns="0" rtlCol="0" anchor="ctr"/>
          <a:lstStyle/>
          <a:p>
            <a:pPr marL="0" indent="0">
              <a:lnSpc>
                <a:spcPct val="110000"/>
              </a:lnSpc>
              <a:buNone/>
            </a:pPr>
            <a:r>
              <a:rPr lang="en-US" sz="1300" b="1" dirty="0">
                <a:solidFill>
                  <a:srgbClr val="15302C"/>
                </a:solidFill>
                <a:latin typeface="Calibri" pitchFamily="34" charset="0"/>
                <a:ea typeface="Calibri" pitchFamily="34" charset="-122"/>
                <a:cs typeface="Calibri" pitchFamily="34" charset="-120"/>
              </a:rPr>
              <a:t>Deliver a convenient experience for all users</a:t>
            </a:r>
            <a:endParaRPr lang="en-US" sz="1300" dirty="0"/>
          </a:p>
        </p:txBody>
      </p:sp>
      <p:sp>
        <p:nvSpPr>
          <p:cNvPr id="40" name="Text 29"/>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54706B"/>
                </a:solidFill>
                <a:latin typeface="Calibri" pitchFamily="34" charset="0"/>
                <a:ea typeface="Calibri" pitchFamily="34" charset="-122"/>
                <a:cs typeface="Calibri" pitchFamily="34" charset="-120"/>
              </a:rPr>
              <a:t>Hospital Management &amp; Appointment System</a:t>
            </a:r>
            <a:endParaRPr lang="en-US" sz="900" dirty="0"/>
          </a:p>
        </p:txBody>
      </p:sp>
      <p:sp>
        <p:nvSpPr>
          <p:cNvPr id="41" name="Text 3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4706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07423D"/>
        </a:solidFill>
        <a:effectLst/>
      </p:bgPr>
    </p:bg>
    <p:spTree>
      <p:nvGrpSpPr>
        <p:cNvPr id="1" name=""/>
        <p:cNvGrpSpPr/>
        <p:nvPr/>
      </p:nvGrpSpPr>
      <p:grpSpPr>
        <a:xfrm>
          <a:off x="0" y="0"/>
          <a:ext cx="0" cy="0"/>
          <a:chOff x="0" y="0"/>
          <a:chExt cx="0" cy="0"/>
        </a:xfrm>
      </p:grpSpPr>
      <p:sp>
        <p:nvSpPr>
          <p:cNvPr id="2" name="Shape 0"/>
          <p:cNvSpPr/>
          <p:nvPr/>
        </p:nvSpPr>
        <p:spPr>
          <a:xfrm>
            <a:off x="-1371600" y="4114800"/>
            <a:ext cx="4572000" cy="4572000"/>
          </a:xfrm>
          <a:prstGeom prst="ellipse">
            <a:avLst/>
          </a:prstGeom>
          <a:solidFill>
            <a:srgbClr val="0E756B">
              <a:alpha val="45000"/>
            </a:srgbClr>
          </a:solidFill>
          <a:ln/>
        </p:spPr>
      </p:sp>
      <p:sp>
        <p:nvSpPr>
          <p:cNvPr id="3" name="Shape 1"/>
          <p:cNvSpPr/>
          <p:nvPr/>
        </p:nvSpPr>
        <p:spPr>
          <a:xfrm>
            <a:off x="9875520" y="-1645920"/>
            <a:ext cx="3840480" cy="3840480"/>
          </a:xfrm>
          <a:prstGeom prst="ellipse">
            <a:avLst/>
          </a:prstGeom>
          <a:solidFill>
            <a:srgbClr val="E2643E">
              <a:alpha val="22000"/>
            </a:srgbClr>
          </a:solidFill>
          <a:ln/>
        </p:spPr>
      </p:sp>
      <p:sp>
        <p:nvSpPr>
          <p:cNvPr id="24" name="Text 18"/>
          <p:cNvSpPr/>
          <p:nvPr/>
        </p:nvSpPr>
        <p:spPr>
          <a:xfrm>
            <a:off x="87001" y="2940728"/>
            <a:ext cx="11064240"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27" name="Text 21"/>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BFE0DA"/>
                </a:solidFill>
                <a:latin typeface="Calibri" pitchFamily="34" charset="0"/>
                <a:ea typeface="Calibri" pitchFamily="34" charset="-122"/>
                <a:cs typeface="Calibri" pitchFamily="34" charset="-120"/>
              </a:rPr>
              <a:t>Hospital Management &amp; Appointment System</a:t>
            </a:r>
            <a:endParaRPr lang="en-US" sz="900" dirty="0"/>
          </a:p>
        </p:txBody>
      </p:sp>
      <p:sp>
        <p:nvSpPr>
          <p:cNvPr id="28" name="Text 22"/>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BFE0D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2643E"/>
                </a:solidFill>
                <a:latin typeface="Calibri" pitchFamily="34" charset="0"/>
                <a:ea typeface="Calibri" pitchFamily="34" charset="-122"/>
                <a:cs typeface="Calibri" pitchFamily="34" charset="-120"/>
              </a:rPr>
              <a:t>PROJECT BOUNDARIES</a:t>
            </a:r>
            <a:endParaRPr lang="en-US" sz="1200" dirty="0"/>
          </a:p>
        </p:txBody>
      </p:sp>
      <p:sp>
        <p:nvSpPr>
          <p:cNvPr id="3" name="Text 1"/>
          <p:cNvSpPr/>
          <p:nvPr/>
        </p:nvSpPr>
        <p:spPr>
          <a:xfrm>
            <a:off x="548640" y="621792"/>
            <a:ext cx="9875520" cy="685800"/>
          </a:xfrm>
          <a:prstGeom prst="rect">
            <a:avLst/>
          </a:prstGeom>
          <a:noFill/>
          <a:ln/>
        </p:spPr>
        <p:txBody>
          <a:bodyPr wrap="square" lIns="0" tIns="0" rIns="0" bIns="0" rtlCol="0" anchor="ctr"/>
          <a:lstStyle/>
          <a:p>
            <a:pPr marL="0" indent="0">
              <a:buNone/>
            </a:pPr>
            <a:r>
              <a:rPr lang="en-US" sz="3200" b="1" dirty="0">
                <a:solidFill>
                  <a:srgbClr val="07423D"/>
                </a:solidFill>
                <a:latin typeface="Cambria" pitchFamily="34" charset="0"/>
                <a:ea typeface="Cambria" pitchFamily="34" charset="-122"/>
                <a:cs typeface="Cambria" pitchFamily="34" charset="-120"/>
              </a:rPr>
              <a:t>Scope</a:t>
            </a:r>
            <a:endParaRPr lang="en-US" sz="3200" dirty="0"/>
          </a:p>
        </p:txBody>
      </p:sp>
      <p:sp>
        <p:nvSpPr>
          <p:cNvPr id="4" name="Shape 2"/>
          <p:cNvSpPr/>
          <p:nvPr/>
        </p:nvSpPr>
        <p:spPr>
          <a:xfrm>
            <a:off x="548640" y="1463040"/>
            <a:ext cx="2724912" cy="1572768"/>
          </a:xfrm>
          <a:prstGeom prst="roundRect">
            <a:avLst>
              <a:gd name="adj" fmla="val 5233"/>
            </a:avLst>
          </a:prstGeom>
          <a:solidFill>
            <a:srgbClr val="EDF6F4"/>
          </a:solidFill>
          <a:ln w="12700">
            <a:solidFill>
              <a:srgbClr val="D3E9E5"/>
            </a:solidFill>
            <a:prstDash val="solid"/>
          </a:ln>
        </p:spPr>
      </p:sp>
      <p:sp>
        <p:nvSpPr>
          <p:cNvPr id="5" name="Shape 3"/>
          <p:cNvSpPr/>
          <p:nvPr/>
        </p:nvSpPr>
        <p:spPr>
          <a:xfrm>
            <a:off x="1627632" y="1664208"/>
            <a:ext cx="566928" cy="566928"/>
          </a:xfrm>
          <a:prstGeom prst="ellipse">
            <a:avLst/>
          </a:prstGeom>
          <a:solidFill>
            <a:srgbClr val="0A5C55"/>
          </a:solidFill>
          <a:ln/>
        </p:spPr>
      </p:sp>
      <p:pic>
        <p:nvPicPr>
          <p:cNvPr id="6" name="Image 0" descr="preencoded.png"/>
          <p:cNvPicPr>
            <a:picLocks noChangeAspect="1"/>
          </p:cNvPicPr>
          <p:nvPr/>
        </p:nvPicPr>
        <p:blipFill>
          <a:blip r:embed="rId3"/>
          <a:stretch>
            <a:fillRect/>
          </a:stretch>
        </p:blipFill>
        <p:spPr>
          <a:xfrm>
            <a:off x="1746687" y="1783263"/>
            <a:ext cx="328818" cy="328818"/>
          </a:xfrm>
          <a:prstGeom prst="rect">
            <a:avLst/>
          </a:prstGeom>
        </p:spPr>
      </p:pic>
      <p:sp>
        <p:nvSpPr>
          <p:cNvPr id="7" name="Text 4"/>
          <p:cNvSpPr/>
          <p:nvPr/>
        </p:nvSpPr>
        <p:spPr>
          <a:xfrm>
            <a:off x="676656" y="2377440"/>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Patient registration &amp; profiles</a:t>
            </a:r>
            <a:endParaRPr lang="en-US" sz="1100" dirty="0"/>
          </a:p>
        </p:txBody>
      </p:sp>
      <p:sp>
        <p:nvSpPr>
          <p:cNvPr id="8" name="Shape 5"/>
          <p:cNvSpPr/>
          <p:nvPr/>
        </p:nvSpPr>
        <p:spPr>
          <a:xfrm>
            <a:off x="3419856" y="1463040"/>
            <a:ext cx="2724912" cy="1572768"/>
          </a:xfrm>
          <a:prstGeom prst="roundRect">
            <a:avLst>
              <a:gd name="adj" fmla="val 5233"/>
            </a:avLst>
          </a:prstGeom>
          <a:solidFill>
            <a:srgbClr val="EDF6F4"/>
          </a:solidFill>
          <a:ln w="12700">
            <a:solidFill>
              <a:srgbClr val="D3E9E5"/>
            </a:solidFill>
            <a:prstDash val="solid"/>
          </a:ln>
        </p:spPr>
      </p:sp>
      <p:sp>
        <p:nvSpPr>
          <p:cNvPr id="9" name="Shape 6"/>
          <p:cNvSpPr/>
          <p:nvPr/>
        </p:nvSpPr>
        <p:spPr>
          <a:xfrm>
            <a:off x="4498848" y="1664208"/>
            <a:ext cx="566928" cy="566928"/>
          </a:xfrm>
          <a:prstGeom prst="ellipse">
            <a:avLst/>
          </a:prstGeom>
          <a:solidFill>
            <a:srgbClr val="0A5C55"/>
          </a:solidFill>
          <a:ln/>
        </p:spPr>
      </p:sp>
      <p:pic>
        <p:nvPicPr>
          <p:cNvPr id="10" name="Image 1" descr="preencoded.png"/>
          <p:cNvPicPr>
            <a:picLocks noChangeAspect="1"/>
          </p:cNvPicPr>
          <p:nvPr/>
        </p:nvPicPr>
        <p:blipFill>
          <a:blip r:embed="rId4"/>
          <a:stretch>
            <a:fillRect/>
          </a:stretch>
        </p:blipFill>
        <p:spPr>
          <a:xfrm>
            <a:off x="4617903" y="1783263"/>
            <a:ext cx="328818" cy="328818"/>
          </a:xfrm>
          <a:prstGeom prst="rect">
            <a:avLst/>
          </a:prstGeom>
        </p:spPr>
      </p:pic>
      <p:sp>
        <p:nvSpPr>
          <p:cNvPr id="11" name="Text 7"/>
          <p:cNvSpPr/>
          <p:nvPr/>
        </p:nvSpPr>
        <p:spPr>
          <a:xfrm>
            <a:off x="3547872" y="2377440"/>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Appointment booking &amp; tracking</a:t>
            </a:r>
            <a:endParaRPr lang="en-US" sz="1100" dirty="0"/>
          </a:p>
        </p:txBody>
      </p:sp>
      <p:sp>
        <p:nvSpPr>
          <p:cNvPr id="12" name="Shape 8"/>
          <p:cNvSpPr/>
          <p:nvPr/>
        </p:nvSpPr>
        <p:spPr>
          <a:xfrm>
            <a:off x="6291072" y="1463040"/>
            <a:ext cx="2724912" cy="1572768"/>
          </a:xfrm>
          <a:prstGeom prst="roundRect">
            <a:avLst>
              <a:gd name="adj" fmla="val 5233"/>
            </a:avLst>
          </a:prstGeom>
          <a:solidFill>
            <a:srgbClr val="EDF6F4"/>
          </a:solidFill>
          <a:ln w="12700">
            <a:solidFill>
              <a:srgbClr val="D3E9E5"/>
            </a:solidFill>
            <a:prstDash val="solid"/>
          </a:ln>
        </p:spPr>
      </p:sp>
      <p:sp>
        <p:nvSpPr>
          <p:cNvPr id="13" name="Shape 9"/>
          <p:cNvSpPr/>
          <p:nvPr/>
        </p:nvSpPr>
        <p:spPr>
          <a:xfrm>
            <a:off x="7370064" y="1664208"/>
            <a:ext cx="566928" cy="566928"/>
          </a:xfrm>
          <a:prstGeom prst="ellipse">
            <a:avLst/>
          </a:prstGeom>
          <a:solidFill>
            <a:srgbClr val="0A5C55"/>
          </a:solidFill>
          <a:ln/>
        </p:spPr>
      </p:sp>
      <p:pic>
        <p:nvPicPr>
          <p:cNvPr id="14" name="Image 2" descr="preencoded.png"/>
          <p:cNvPicPr>
            <a:picLocks noChangeAspect="1"/>
          </p:cNvPicPr>
          <p:nvPr/>
        </p:nvPicPr>
        <p:blipFill>
          <a:blip r:embed="rId5"/>
          <a:stretch>
            <a:fillRect/>
          </a:stretch>
        </p:blipFill>
        <p:spPr>
          <a:xfrm>
            <a:off x="7489119" y="1783263"/>
            <a:ext cx="328818" cy="328818"/>
          </a:xfrm>
          <a:prstGeom prst="rect">
            <a:avLst/>
          </a:prstGeom>
        </p:spPr>
      </p:pic>
      <p:sp>
        <p:nvSpPr>
          <p:cNvPr id="15" name="Text 10"/>
          <p:cNvSpPr/>
          <p:nvPr/>
        </p:nvSpPr>
        <p:spPr>
          <a:xfrm>
            <a:off x="6419088" y="2377440"/>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Doctor EMR access</a:t>
            </a:r>
            <a:endParaRPr lang="en-US" sz="1100" dirty="0"/>
          </a:p>
        </p:txBody>
      </p:sp>
      <p:sp>
        <p:nvSpPr>
          <p:cNvPr id="16" name="Shape 11"/>
          <p:cNvSpPr/>
          <p:nvPr/>
        </p:nvSpPr>
        <p:spPr>
          <a:xfrm>
            <a:off x="9162288" y="1463040"/>
            <a:ext cx="2724912" cy="1572768"/>
          </a:xfrm>
          <a:prstGeom prst="roundRect">
            <a:avLst>
              <a:gd name="adj" fmla="val 5233"/>
            </a:avLst>
          </a:prstGeom>
          <a:solidFill>
            <a:srgbClr val="EDF6F4"/>
          </a:solidFill>
          <a:ln w="12700">
            <a:solidFill>
              <a:srgbClr val="D3E9E5"/>
            </a:solidFill>
            <a:prstDash val="solid"/>
          </a:ln>
        </p:spPr>
      </p:sp>
      <p:sp>
        <p:nvSpPr>
          <p:cNvPr id="17" name="Shape 12"/>
          <p:cNvSpPr/>
          <p:nvPr/>
        </p:nvSpPr>
        <p:spPr>
          <a:xfrm>
            <a:off x="10241280" y="1664208"/>
            <a:ext cx="566928" cy="566928"/>
          </a:xfrm>
          <a:prstGeom prst="ellipse">
            <a:avLst/>
          </a:prstGeom>
          <a:solidFill>
            <a:srgbClr val="0A5C55"/>
          </a:solidFill>
          <a:ln/>
        </p:spPr>
      </p:sp>
      <p:pic>
        <p:nvPicPr>
          <p:cNvPr id="18" name="Image 3" descr="preencoded.png"/>
          <p:cNvPicPr>
            <a:picLocks noChangeAspect="1"/>
          </p:cNvPicPr>
          <p:nvPr/>
        </p:nvPicPr>
        <p:blipFill>
          <a:blip r:embed="rId6"/>
          <a:stretch>
            <a:fillRect/>
          </a:stretch>
        </p:blipFill>
        <p:spPr>
          <a:xfrm>
            <a:off x="10360335" y="1783263"/>
            <a:ext cx="328818" cy="328818"/>
          </a:xfrm>
          <a:prstGeom prst="rect">
            <a:avLst/>
          </a:prstGeom>
        </p:spPr>
      </p:pic>
      <p:sp>
        <p:nvSpPr>
          <p:cNvPr id="19" name="Text 13"/>
          <p:cNvSpPr/>
          <p:nvPr/>
        </p:nvSpPr>
        <p:spPr>
          <a:xfrm>
            <a:off x="9290304" y="2377440"/>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Billing &amp; insurance</a:t>
            </a:r>
            <a:endParaRPr lang="en-US" sz="1100" dirty="0"/>
          </a:p>
        </p:txBody>
      </p:sp>
      <p:sp>
        <p:nvSpPr>
          <p:cNvPr id="20" name="Shape 14"/>
          <p:cNvSpPr/>
          <p:nvPr/>
        </p:nvSpPr>
        <p:spPr>
          <a:xfrm>
            <a:off x="548640" y="3255264"/>
            <a:ext cx="2724912" cy="1572768"/>
          </a:xfrm>
          <a:prstGeom prst="roundRect">
            <a:avLst>
              <a:gd name="adj" fmla="val 5233"/>
            </a:avLst>
          </a:prstGeom>
          <a:solidFill>
            <a:srgbClr val="EDF6F4"/>
          </a:solidFill>
          <a:ln w="12700">
            <a:solidFill>
              <a:srgbClr val="D3E9E5"/>
            </a:solidFill>
            <a:prstDash val="solid"/>
          </a:ln>
        </p:spPr>
      </p:sp>
      <p:sp>
        <p:nvSpPr>
          <p:cNvPr id="21" name="Shape 15"/>
          <p:cNvSpPr/>
          <p:nvPr/>
        </p:nvSpPr>
        <p:spPr>
          <a:xfrm>
            <a:off x="1627632" y="3456432"/>
            <a:ext cx="566928" cy="566928"/>
          </a:xfrm>
          <a:prstGeom prst="ellipse">
            <a:avLst/>
          </a:prstGeom>
          <a:solidFill>
            <a:srgbClr val="0A5C55"/>
          </a:solidFill>
          <a:ln/>
        </p:spPr>
      </p:sp>
      <p:pic>
        <p:nvPicPr>
          <p:cNvPr id="22" name="Image 4" descr="preencoded.png"/>
          <p:cNvPicPr>
            <a:picLocks noChangeAspect="1"/>
          </p:cNvPicPr>
          <p:nvPr/>
        </p:nvPicPr>
        <p:blipFill>
          <a:blip r:embed="rId7"/>
          <a:stretch>
            <a:fillRect/>
          </a:stretch>
        </p:blipFill>
        <p:spPr>
          <a:xfrm>
            <a:off x="1746687" y="3575487"/>
            <a:ext cx="328818" cy="328818"/>
          </a:xfrm>
          <a:prstGeom prst="rect">
            <a:avLst/>
          </a:prstGeom>
        </p:spPr>
      </p:pic>
      <p:sp>
        <p:nvSpPr>
          <p:cNvPr id="23" name="Text 16"/>
          <p:cNvSpPr/>
          <p:nvPr/>
        </p:nvSpPr>
        <p:spPr>
          <a:xfrm>
            <a:off x="676656" y="4169664"/>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Pharmacy &amp; inventory</a:t>
            </a:r>
            <a:endParaRPr lang="en-US" sz="1100" dirty="0"/>
          </a:p>
        </p:txBody>
      </p:sp>
      <p:sp>
        <p:nvSpPr>
          <p:cNvPr id="24" name="Shape 17"/>
          <p:cNvSpPr/>
          <p:nvPr/>
        </p:nvSpPr>
        <p:spPr>
          <a:xfrm>
            <a:off x="3419856" y="3255264"/>
            <a:ext cx="2724912" cy="1572768"/>
          </a:xfrm>
          <a:prstGeom prst="roundRect">
            <a:avLst>
              <a:gd name="adj" fmla="val 5233"/>
            </a:avLst>
          </a:prstGeom>
          <a:solidFill>
            <a:srgbClr val="EDF6F4"/>
          </a:solidFill>
          <a:ln w="12700">
            <a:solidFill>
              <a:srgbClr val="D3E9E5"/>
            </a:solidFill>
            <a:prstDash val="solid"/>
          </a:ln>
        </p:spPr>
      </p:sp>
      <p:sp>
        <p:nvSpPr>
          <p:cNvPr id="25" name="Shape 18"/>
          <p:cNvSpPr/>
          <p:nvPr/>
        </p:nvSpPr>
        <p:spPr>
          <a:xfrm>
            <a:off x="4498848" y="3456432"/>
            <a:ext cx="566928" cy="566928"/>
          </a:xfrm>
          <a:prstGeom prst="ellipse">
            <a:avLst/>
          </a:prstGeom>
          <a:solidFill>
            <a:srgbClr val="0A5C55"/>
          </a:solidFill>
          <a:ln/>
        </p:spPr>
      </p:sp>
      <p:pic>
        <p:nvPicPr>
          <p:cNvPr id="26" name="Image 5" descr="preencoded.png"/>
          <p:cNvPicPr>
            <a:picLocks noChangeAspect="1"/>
          </p:cNvPicPr>
          <p:nvPr/>
        </p:nvPicPr>
        <p:blipFill>
          <a:blip r:embed="rId8"/>
          <a:stretch>
            <a:fillRect/>
          </a:stretch>
        </p:blipFill>
        <p:spPr>
          <a:xfrm>
            <a:off x="4617903" y="3575487"/>
            <a:ext cx="328818" cy="328818"/>
          </a:xfrm>
          <a:prstGeom prst="rect">
            <a:avLst/>
          </a:prstGeom>
        </p:spPr>
      </p:pic>
      <p:sp>
        <p:nvSpPr>
          <p:cNvPr id="27" name="Text 19"/>
          <p:cNvSpPr/>
          <p:nvPr/>
        </p:nvSpPr>
        <p:spPr>
          <a:xfrm>
            <a:off x="3547872" y="4169664"/>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Laboratory report management</a:t>
            </a:r>
            <a:endParaRPr lang="en-US" sz="1100" dirty="0"/>
          </a:p>
        </p:txBody>
      </p:sp>
      <p:sp>
        <p:nvSpPr>
          <p:cNvPr id="28" name="Shape 20"/>
          <p:cNvSpPr/>
          <p:nvPr/>
        </p:nvSpPr>
        <p:spPr>
          <a:xfrm>
            <a:off x="6291072" y="3255264"/>
            <a:ext cx="2724912" cy="1572768"/>
          </a:xfrm>
          <a:prstGeom prst="roundRect">
            <a:avLst>
              <a:gd name="adj" fmla="val 5233"/>
            </a:avLst>
          </a:prstGeom>
          <a:solidFill>
            <a:srgbClr val="EDF6F4"/>
          </a:solidFill>
          <a:ln w="12700">
            <a:solidFill>
              <a:srgbClr val="D3E9E5"/>
            </a:solidFill>
            <a:prstDash val="solid"/>
          </a:ln>
        </p:spPr>
      </p:sp>
      <p:sp>
        <p:nvSpPr>
          <p:cNvPr id="29" name="Shape 21"/>
          <p:cNvSpPr/>
          <p:nvPr/>
        </p:nvSpPr>
        <p:spPr>
          <a:xfrm>
            <a:off x="7370064" y="3456432"/>
            <a:ext cx="566928" cy="566928"/>
          </a:xfrm>
          <a:prstGeom prst="ellipse">
            <a:avLst/>
          </a:prstGeom>
          <a:solidFill>
            <a:srgbClr val="0A5C55"/>
          </a:solidFill>
          <a:ln/>
        </p:spPr>
      </p:sp>
      <p:pic>
        <p:nvPicPr>
          <p:cNvPr id="30" name="Image 6" descr="preencoded.png"/>
          <p:cNvPicPr>
            <a:picLocks noChangeAspect="1"/>
          </p:cNvPicPr>
          <p:nvPr/>
        </p:nvPicPr>
        <p:blipFill>
          <a:blip r:embed="rId9"/>
          <a:stretch>
            <a:fillRect/>
          </a:stretch>
        </p:blipFill>
        <p:spPr>
          <a:xfrm>
            <a:off x="7489119" y="3575487"/>
            <a:ext cx="328818" cy="328818"/>
          </a:xfrm>
          <a:prstGeom prst="rect">
            <a:avLst/>
          </a:prstGeom>
        </p:spPr>
      </p:pic>
      <p:sp>
        <p:nvSpPr>
          <p:cNvPr id="31" name="Text 22"/>
          <p:cNvSpPr/>
          <p:nvPr/>
        </p:nvSpPr>
        <p:spPr>
          <a:xfrm>
            <a:off x="6419088" y="4169664"/>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Token / queue management</a:t>
            </a:r>
            <a:endParaRPr lang="en-US" sz="1100" dirty="0"/>
          </a:p>
        </p:txBody>
      </p:sp>
      <p:sp>
        <p:nvSpPr>
          <p:cNvPr id="32" name="Shape 23"/>
          <p:cNvSpPr/>
          <p:nvPr/>
        </p:nvSpPr>
        <p:spPr>
          <a:xfrm>
            <a:off x="9162288" y="3255264"/>
            <a:ext cx="2724912" cy="1572768"/>
          </a:xfrm>
          <a:prstGeom prst="roundRect">
            <a:avLst>
              <a:gd name="adj" fmla="val 5233"/>
            </a:avLst>
          </a:prstGeom>
          <a:solidFill>
            <a:srgbClr val="EDF6F4"/>
          </a:solidFill>
          <a:ln w="12700">
            <a:solidFill>
              <a:srgbClr val="D3E9E5"/>
            </a:solidFill>
            <a:prstDash val="solid"/>
          </a:ln>
        </p:spPr>
      </p:sp>
      <p:sp>
        <p:nvSpPr>
          <p:cNvPr id="33" name="Shape 24"/>
          <p:cNvSpPr/>
          <p:nvPr/>
        </p:nvSpPr>
        <p:spPr>
          <a:xfrm>
            <a:off x="10241280" y="3456432"/>
            <a:ext cx="566928" cy="566928"/>
          </a:xfrm>
          <a:prstGeom prst="ellipse">
            <a:avLst/>
          </a:prstGeom>
          <a:solidFill>
            <a:srgbClr val="0A5C55"/>
          </a:solidFill>
          <a:ln/>
        </p:spPr>
      </p:sp>
      <p:pic>
        <p:nvPicPr>
          <p:cNvPr id="34" name="Image 7" descr="preencoded.png"/>
          <p:cNvPicPr>
            <a:picLocks noChangeAspect="1"/>
          </p:cNvPicPr>
          <p:nvPr/>
        </p:nvPicPr>
        <p:blipFill>
          <a:blip r:embed="rId10"/>
          <a:stretch>
            <a:fillRect/>
          </a:stretch>
        </p:blipFill>
        <p:spPr>
          <a:xfrm>
            <a:off x="10360335" y="3575487"/>
            <a:ext cx="328818" cy="328818"/>
          </a:xfrm>
          <a:prstGeom prst="rect">
            <a:avLst/>
          </a:prstGeom>
        </p:spPr>
      </p:pic>
      <p:sp>
        <p:nvSpPr>
          <p:cNvPr id="35" name="Text 25"/>
          <p:cNvSpPr/>
          <p:nvPr/>
        </p:nvSpPr>
        <p:spPr>
          <a:xfrm>
            <a:off x="9290304" y="4169664"/>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Admin dashboard &amp; monitoring</a:t>
            </a:r>
            <a:endParaRPr lang="en-US" sz="1100" dirty="0"/>
          </a:p>
        </p:txBody>
      </p:sp>
      <p:sp>
        <p:nvSpPr>
          <p:cNvPr id="37" name="Text 27"/>
          <p:cNvSpPr/>
          <p:nvPr/>
        </p:nvSpPr>
        <p:spPr>
          <a:xfrm>
            <a:off x="822960" y="5486400"/>
            <a:ext cx="10607040" cy="594360"/>
          </a:xfrm>
          <a:prstGeom prst="rect">
            <a:avLst/>
          </a:prstGeom>
          <a:noFill/>
          <a:ln/>
        </p:spPr>
        <p:txBody>
          <a:bodyPr wrap="square" lIns="0" tIns="0" rIns="0" bIns="0" rtlCol="0" anchor="ctr"/>
          <a:lstStyle/>
          <a:p>
            <a:pPr marL="0" indent="0" algn="ctr">
              <a:buNone/>
            </a:pPr>
            <a:r>
              <a:rPr lang="en-US" sz="1500" b="1" i="1" dirty="0">
                <a:solidFill>
                  <a:srgbClr val="07423D"/>
                </a:solidFill>
                <a:latin typeface="Cambria" pitchFamily="34" charset="0"/>
                <a:ea typeface="Cambria" pitchFamily="34" charset="-122"/>
                <a:cs typeface="Cambria" pitchFamily="34" charset="-120"/>
              </a:rPr>
              <a:t>Covers a single hospital / clinic — patient, doctor and admin roles only.</a:t>
            </a:r>
            <a:endParaRPr lang="en-US" sz="1500" dirty="0"/>
          </a:p>
        </p:txBody>
      </p:sp>
      <p:sp>
        <p:nvSpPr>
          <p:cNvPr id="38" name="Text 28"/>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54706B"/>
                </a:solidFill>
                <a:latin typeface="Calibri" pitchFamily="34" charset="0"/>
                <a:ea typeface="Calibri" pitchFamily="34" charset="-122"/>
                <a:cs typeface="Calibri" pitchFamily="34" charset="-120"/>
              </a:rPr>
              <a:t>Hospital Management &amp; Appointment System</a:t>
            </a:r>
            <a:endParaRPr lang="en-US" sz="900" dirty="0"/>
          </a:p>
        </p:txBody>
      </p:sp>
      <p:sp>
        <p:nvSpPr>
          <p:cNvPr id="39" name="Text 2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4706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2643E"/>
                </a:solidFill>
                <a:latin typeface="Calibri" pitchFamily="34" charset="0"/>
                <a:ea typeface="Calibri" pitchFamily="34" charset="-122"/>
                <a:cs typeface="Calibri" pitchFamily="34" charset="-120"/>
              </a:rPr>
              <a:t>TECH STACK</a:t>
            </a:r>
            <a:endParaRPr lang="en-US" sz="1200" dirty="0"/>
          </a:p>
        </p:txBody>
      </p:sp>
      <p:sp>
        <p:nvSpPr>
          <p:cNvPr id="3" name="Text 1"/>
          <p:cNvSpPr/>
          <p:nvPr/>
        </p:nvSpPr>
        <p:spPr>
          <a:xfrm>
            <a:off x="548640" y="621792"/>
            <a:ext cx="9875520" cy="685800"/>
          </a:xfrm>
          <a:prstGeom prst="rect">
            <a:avLst/>
          </a:prstGeom>
          <a:noFill/>
          <a:ln/>
        </p:spPr>
        <p:txBody>
          <a:bodyPr wrap="square" lIns="0" tIns="0" rIns="0" bIns="0" rtlCol="0" anchor="ctr"/>
          <a:lstStyle/>
          <a:p>
            <a:pPr marL="0" indent="0">
              <a:buNone/>
            </a:pPr>
            <a:r>
              <a:rPr lang="en-US" sz="3200" b="1" dirty="0">
                <a:solidFill>
                  <a:srgbClr val="07423D"/>
                </a:solidFill>
                <a:latin typeface="Cambria" pitchFamily="34" charset="0"/>
                <a:ea typeface="Cambria" pitchFamily="34" charset="-122"/>
                <a:cs typeface="Cambria" pitchFamily="34" charset="-120"/>
              </a:rPr>
              <a:t>Technology Identification</a:t>
            </a:r>
            <a:endParaRPr lang="en-US" sz="3200" dirty="0"/>
          </a:p>
        </p:txBody>
      </p:sp>
      <p:sp>
        <p:nvSpPr>
          <p:cNvPr id="4" name="Shape 2"/>
          <p:cNvSpPr/>
          <p:nvPr/>
        </p:nvSpPr>
        <p:spPr>
          <a:xfrm>
            <a:off x="548640" y="1463040"/>
            <a:ext cx="2724912" cy="1572768"/>
          </a:xfrm>
          <a:prstGeom prst="roundRect">
            <a:avLst>
              <a:gd name="adj" fmla="val 5233"/>
            </a:avLst>
          </a:prstGeom>
          <a:solidFill>
            <a:srgbClr val="EDF6F4"/>
          </a:solidFill>
          <a:ln w="12700">
            <a:solidFill>
              <a:srgbClr val="D3E9E5"/>
            </a:solidFill>
            <a:prstDash val="solid"/>
          </a:ln>
        </p:spPr>
      </p:sp>
      <p:sp>
        <p:nvSpPr>
          <p:cNvPr id="5" name="Shape 3"/>
          <p:cNvSpPr/>
          <p:nvPr/>
        </p:nvSpPr>
        <p:spPr>
          <a:xfrm>
            <a:off x="1627632" y="1664208"/>
            <a:ext cx="566928" cy="566928"/>
          </a:xfrm>
          <a:prstGeom prst="ellipse">
            <a:avLst/>
          </a:prstGeom>
          <a:solidFill>
            <a:srgbClr val="0A5C55"/>
          </a:solidFill>
          <a:ln/>
        </p:spPr>
      </p:sp>
      <p:pic>
        <p:nvPicPr>
          <p:cNvPr id="6" name="Image 0" descr="preencoded.png"/>
          <p:cNvPicPr>
            <a:picLocks noChangeAspect="1"/>
          </p:cNvPicPr>
          <p:nvPr/>
        </p:nvPicPr>
        <p:blipFill>
          <a:blip r:embed="rId3"/>
          <a:stretch>
            <a:fillRect/>
          </a:stretch>
        </p:blipFill>
        <p:spPr>
          <a:xfrm>
            <a:off x="1746687" y="1783263"/>
            <a:ext cx="328818" cy="328818"/>
          </a:xfrm>
          <a:prstGeom prst="rect">
            <a:avLst/>
          </a:prstGeom>
        </p:spPr>
      </p:pic>
      <p:sp>
        <p:nvSpPr>
          <p:cNvPr id="7" name="Text 4"/>
          <p:cNvSpPr/>
          <p:nvPr/>
        </p:nvSpPr>
        <p:spPr>
          <a:xfrm>
            <a:off x="676656" y="2377440"/>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React.js</a:t>
            </a:r>
            <a:endParaRPr lang="en-US" sz="1100" dirty="0"/>
          </a:p>
        </p:txBody>
      </p:sp>
      <p:sp>
        <p:nvSpPr>
          <p:cNvPr id="8" name="Shape 5"/>
          <p:cNvSpPr/>
          <p:nvPr/>
        </p:nvSpPr>
        <p:spPr>
          <a:xfrm>
            <a:off x="3419856" y="1463040"/>
            <a:ext cx="2724912" cy="1572768"/>
          </a:xfrm>
          <a:prstGeom prst="roundRect">
            <a:avLst>
              <a:gd name="adj" fmla="val 5233"/>
            </a:avLst>
          </a:prstGeom>
          <a:solidFill>
            <a:srgbClr val="EDF6F4"/>
          </a:solidFill>
          <a:ln w="12700">
            <a:solidFill>
              <a:srgbClr val="D3E9E5"/>
            </a:solidFill>
            <a:prstDash val="solid"/>
          </a:ln>
        </p:spPr>
      </p:sp>
      <p:sp>
        <p:nvSpPr>
          <p:cNvPr id="9" name="Shape 6"/>
          <p:cNvSpPr/>
          <p:nvPr/>
        </p:nvSpPr>
        <p:spPr>
          <a:xfrm>
            <a:off x="4498848" y="1664208"/>
            <a:ext cx="566928" cy="566928"/>
          </a:xfrm>
          <a:prstGeom prst="ellipse">
            <a:avLst/>
          </a:prstGeom>
          <a:solidFill>
            <a:srgbClr val="0A5C55"/>
          </a:solidFill>
          <a:ln/>
        </p:spPr>
      </p:sp>
      <p:pic>
        <p:nvPicPr>
          <p:cNvPr id="10" name="Image 1" descr="preencoded.png"/>
          <p:cNvPicPr>
            <a:picLocks noChangeAspect="1"/>
          </p:cNvPicPr>
          <p:nvPr/>
        </p:nvPicPr>
        <p:blipFill>
          <a:blip r:embed="rId4"/>
          <a:stretch>
            <a:fillRect/>
          </a:stretch>
        </p:blipFill>
        <p:spPr>
          <a:xfrm>
            <a:off x="4617903" y="1783263"/>
            <a:ext cx="328818" cy="328818"/>
          </a:xfrm>
          <a:prstGeom prst="rect">
            <a:avLst/>
          </a:prstGeom>
        </p:spPr>
      </p:pic>
      <p:sp>
        <p:nvSpPr>
          <p:cNvPr id="11" name="Text 7"/>
          <p:cNvSpPr/>
          <p:nvPr/>
        </p:nvSpPr>
        <p:spPr>
          <a:xfrm>
            <a:off x="3547872" y="2377440"/>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Node.js &amp; Express.js</a:t>
            </a:r>
            <a:endParaRPr lang="en-US" sz="1100" dirty="0"/>
          </a:p>
        </p:txBody>
      </p:sp>
      <p:sp>
        <p:nvSpPr>
          <p:cNvPr id="12" name="Shape 8"/>
          <p:cNvSpPr/>
          <p:nvPr/>
        </p:nvSpPr>
        <p:spPr>
          <a:xfrm>
            <a:off x="6291072" y="1463040"/>
            <a:ext cx="2724912" cy="1572768"/>
          </a:xfrm>
          <a:prstGeom prst="roundRect">
            <a:avLst>
              <a:gd name="adj" fmla="val 5233"/>
            </a:avLst>
          </a:prstGeom>
          <a:solidFill>
            <a:srgbClr val="EDF6F4"/>
          </a:solidFill>
          <a:ln w="12700">
            <a:solidFill>
              <a:srgbClr val="D3E9E5"/>
            </a:solidFill>
            <a:prstDash val="solid"/>
          </a:ln>
        </p:spPr>
      </p:sp>
      <p:sp>
        <p:nvSpPr>
          <p:cNvPr id="13" name="Shape 9"/>
          <p:cNvSpPr/>
          <p:nvPr/>
        </p:nvSpPr>
        <p:spPr>
          <a:xfrm>
            <a:off x="7370064" y="1664208"/>
            <a:ext cx="566928" cy="566928"/>
          </a:xfrm>
          <a:prstGeom prst="ellipse">
            <a:avLst/>
          </a:prstGeom>
          <a:solidFill>
            <a:srgbClr val="0A5C55"/>
          </a:solidFill>
          <a:ln/>
        </p:spPr>
      </p:sp>
      <p:pic>
        <p:nvPicPr>
          <p:cNvPr id="14" name="Image 2" descr="preencoded.png"/>
          <p:cNvPicPr>
            <a:picLocks noChangeAspect="1"/>
          </p:cNvPicPr>
          <p:nvPr/>
        </p:nvPicPr>
        <p:blipFill>
          <a:blip r:embed="rId5"/>
          <a:stretch>
            <a:fillRect/>
          </a:stretch>
        </p:blipFill>
        <p:spPr>
          <a:xfrm>
            <a:off x="7489119" y="1783263"/>
            <a:ext cx="328818" cy="328818"/>
          </a:xfrm>
          <a:prstGeom prst="rect">
            <a:avLst/>
          </a:prstGeom>
        </p:spPr>
      </p:pic>
      <p:sp>
        <p:nvSpPr>
          <p:cNvPr id="15" name="Text 10"/>
          <p:cNvSpPr/>
          <p:nvPr/>
        </p:nvSpPr>
        <p:spPr>
          <a:xfrm>
            <a:off x="6419088" y="2377440"/>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MySQL &amp; Sequelize ORM</a:t>
            </a:r>
            <a:endParaRPr lang="en-US" sz="1100" dirty="0"/>
          </a:p>
        </p:txBody>
      </p:sp>
      <p:sp>
        <p:nvSpPr>
          <p:cNvPr id="16" name="Shape 11"/>
          <p:cNvSpPr/>
          <p:nvPr/>
        </p:nvSpPr>
        <p:spPr>
          <a:xfrm>
            <a:off x="9162288" y="1463040"/>
            <a:ext cx="2724912" cy="1572768"/>
          </a:xfrm>
          <a:prstGeom prst="roundRect">
            <a:avLst>
              <a:gd name="adj" fmla="val 5233"/>
            </a:avLst>
          </a:prstGeom>
          <a:solidFill>
            <a:srgbClr val="EDF6F4"/>
          </a:solidFill>
          <a:ln w="12700">
            <a:solidFill>
              <a:srgbClr val="D3E9E5"/>
            </a:solidFill>
            <a:prstDash val="solid"/>
          </a:ln>
        </p:spPr>
      </p:sp>
      <p:sp>
        <p:nvSpPr>
          <p:cNvPr id="17" name="Shape 12"/>
          <p:cNvSpPr/>
          <p:nvPr/>
        </p:nvSpPr>
        <p:spPr>
          <a:xfrm>
            <a:off x="10241280" y="1664208"/>
            <a:ext cx="566928" cy="566928"/>
          </a:xfrm>
          <a:prstGeom prst="ellipse">
            <a:avLst/>
          </a:prstGeom>
          <a:solidFill>
            <a:srgbClr val="0A5C55"/>
          </a:solidFill>
          <a:ln/>
        </p:spPr>
      </p:sp>
      <p:pic>
        <p:nvPicPr>
          <p:cNvPr id="18" name="Image 3" descr="preencoded.png"/>
          <p:cNvPicPr>
            <a:picLocks noChangeAspect="1"/>
          </p:cNvPicPr>
          <p:nvPr/>
        </p:nvPicPr>
        <p:blipFill>
          <a:blip r:embed="rId6"/>
          <a:stretch>
            <a:fillRect/>
          </a:stretch>
        </p:blipFill>
        <p:spPr>
          <a:xfrm>
            <a:off x="10360335" y="1783263"/>
            <a:ext cx="328818" cy="328818"/>
          </a:xfrm>
          <a:prstGeom prst="rect">
            <a:avLst/>
          </a:prstGeom>
        </p:spPr>
      </p:pic>
      <p:sp>
        <p:nvSpPr>
          <p:cNvPr id="19" name="Text 13"/>
          <p:cNvSpPr/>
          <p:nvPr/>
        </p:nvSpPr>
        <p:spPr>
          <a:xfrm>
            <a:off x="9290304" y="2377440"/>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Database Design</a:t>
            </a:r>
            <a:endParaRPr lang="en-US" sz="1100" dirty="0"/>
          </a:p>
        </p:txBody>
      </p:sp>
      <p:sp>
        <p:nvSpPr>
          <p:cNvPr id="20" name="Shape 14"/>
          <p:cNvSpPr/>
          <p:nvPr/>
        </p:nvSpPr>
        <p:spPr>
          <a:xfrm>
            <a:off x="548640" y="3255264"/>
            <a:ext cx="2724912" cy="1572768"/>
          </a:xfrm>
          <a:prstGeom prst="roundRect">
            <a:avLst>
              <a:gd name="adj" fmla="val 5233"/>
            </a:avLst>
          </a:prstGeom>
          <a:solidFill>
            <a:srgbClr val="EDF6F4"/>
          </a:solidFill>
          <a:ln w="12700">
            <a:solidFill>
              <a:srgbClr val="D3E9E5"/>
            </a:solidFill>
            <a:prstDash val="solid"/>
          </a:ln>
        </p:spPr>
      </p:sp>
      <p:sp>
        <p:nvSpPr>
          <p:cNvPr id="21" name="Shape 15"/>
          <p:cNvSpPr/>
          <p:nvPr/>
        </p:nvSpPr>
        <p:spPr>
          <a:xfrm>
            <a:off x="1627632" y="3456432"/>
            <a:ext cx="566928" cy="566928"/>
          </a:xfrm>
          <a:prstGeom prst="ellipse">
            <a:avLst/>
          </a:prstGeom>
          <a:solidFill>
            <a:srgbClr val="FFFFFF"/>
          </a:solidFill>
          <a:ln/>
        </p:spPr>
      </p:sp>
      <p:pic>
        <p:nvPicPr>
          <p:cNvPr id="22" name="Image 4" descr="preencoded.png"/>
          <p:cNvPicPr>
            <a:picLocks noChangeAspect="1"/>
          </p:cNvPicPr>
          <p:nvPr/>
        </p:nvPicPr>
        <p:blipFill>
          <a:blip r:embed="rId7"/>
          <a:stretch>
            <a:fillRect/>
          </a:stretch>
        </p:blipFill>
        <p:spPr>
          <a:xfrm>
            <a:off x="1746687" y="3575487"/>
            <a:ext cx="328818" cy="328818"/>
          </a:xfrm>
          <a:prstGeom prst="rect">
            <a:avLst/>
          </a:prstGeom>
        </p:spPr>
      </p:pic>
      <p:sp>
        <p:nvSpPr>
          <p:cNvPr id="23" name="Text 16"/>
          <p:cNvSpPr/>
          <p:nvPr/>
        </p:nvSpPr>
        <p:spPr>
          <a:xfrm>
            <a:off x="676656" y="4169664"/>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JWT Authentication</a:t>
            </a:r>
            <a:endParaRPr lang="en-US" sz="1100" dirty="0"/>
          </a:p>
        </p:txBody>
      </p:sp>
      <p:sp>
        <p:nvSpPr>
          <p:cNvPr id="24" name="Shape 17"/>
          <p:cNvSpPr/>
          <p:nvPr/>
        </p:nvSpPr>
        <p:spPr>
          <a:xfrm>
            <a:off x="3419856" y="3255264"/>
            <a:ext cx="2724912" cy="1572768"/>
          </a:xfrm>
          <a:prstGeom prst="roundRect">
            <a:avLst>
              <a:gd name="adj" fmla="val 5233"/>
            </a:avLst>
          </a:prstGeom>
          <a:solidFill>
            <a:srgbClr val="EDF6F4"/>
          </a:solidFill>
          <a:ln w="12700">
            <a:solidFill>
              <a:srgbClr val="D3E9E5"/>
            </a:solidFill>
            <a:prstDash val="solid"/>
          </a:ln>
        </p:spPr>
      </p:sp>
      <p:sp>
        <p:nvSpPr>
          <p:cNvPr id="25" name="Shape 18"/>
          <p:cNvSpPr/>
          <p:nvPr/>
        </p:nvSpPr>
        <p:spPr>
          <a:xfrm>
            <a:off x="4498848" y="3456432"/>
            <a:ext cx="566928" cy="566928"/>
          </a:xfrm>
          <a:prstGeom prst="ellipse">
            <a:avLst/>
          </a:prstGeom>
          <a:solidFill>
            <a:srgbClr val="FFFFFF"/>
          </a:solidFill>
          <a:ln/>
        </p:spPr>
      </p:sp>
      <p:pic>
        <p:nvPicPr>
          <p:cNvPr id="26" name="Image 5" descr="preencoded.png"/>
          <p:cNvPicPr>
            <a:picLocks noChangeAspect="1"/>
          </p:cNvPicPr>
          <p:nvPr/>
        </p:nvPicPr>
        <p:blipFill>
          <a:blip r:embed="rId8"/>
          <a:stretch>
            <a:fillRect/>
          </a:stretch>
        </p:blipFill>
        <p:spPr>
          <a:xfrm>
            <a:off x="4617903" y="3575487"/>
            <a:ext cx="328818" cy="328818"/>
          </a:xfrm>
          <a:prstGeom prst="rect">
            <a:avLst/>
          </a:prstGeom>
        </p:spPr>
      </p:pic>
      <p:sp>
        <p:nvSpPr>
          <p:cNvPr id="27" name="Text 19"/>
          <p:cNvSpPr/>
          <p:nvPr/>
        </p:nvSpPr>
        <p:spPr>
          <a:xfrm>
            <a:off x="3547872" y="4169664"/>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Dev Tools</a:t>
            </a:r>
            <a:endParaRPr lang="en-US" sz="1100" dirty="0"/>
          </a:p>
        </p:txBody>
      </p:sp>
      <p:sp>
        <p:nvSpPr>
          <p:cNvPr id="28" name="Shape 20"/>
          <p:cNvSpPr/>
          <p:nvPr/>
        </p:nvSpPr>
        <p:spPr>
          <a:xfrm>
            <a:off x="6291072" y="3255264"/>
            <a:ext cx="2724912" cy="1572768"/>
          </a:xfrm>
          <a:prstGeom prst="roundRect">
            <a:avLst>
              <a:gd name="adj" fmla="val 5233"/>
            </a:avLst>
          </a:prstGeom>
          <a:solidFill>
            <a:srgbClr val="EDF6F4"/>
          </a:solidFill>
          <a:ln w="12700">
            <a:solidFill>
              <a:srgbClr val="D3E9E5"/>
            </a:solidFill>
            <a:prstDash val="solid"/>
          </a:ln>
        </p:spPr>
      </p:sp>
      <p:sp>
        <p:nvSpPr>
          <p:cNvPr id="29" name="Shape 21"/>
          <p:cNvSpPr/>
          <p:nvPr/>
        </p:nvSpPr>
        <p:spPr>
          <a:xfrm>
            <a:off x="7370064" y="3456432"/>
            <a:ext cx="566928" cy="566928"/>
          </a:xfrm>
          <a:prstGeom prst="ellipse">
            <a:avLst/>
          </a:prstGeom>
          <a:solidFill>
            <a:srgbClr val="0A5C55"/>
          </a:solidFill>
          <a:ln/>
        </p:spPr>
      </p:sp>
      <p:pic>
        <p:nvPicPr>
          <p:cNvPr id="30" name="Image 6" descr="preencoded.png"/>
          <p:cNvPicPr>
            <a:picLocks noChangeAspect="1"/>
          </p:cNvPicPr>
          <p:nvPr/>
        </p:nvPicPr>
        <p:blipFill>
          <a:blip r:embed="rId9"/>
          <a:stretch>
            <a:fillRect/>
          </a:stretch>
        </p:blipFill>
        <p:spPr>
          <a:xfrm>
            <a:off x="7489119" y="3575487"/>
            <a:ext cx="328818" cy="328818"/>
          </a:xfrm>
          <a:prstGeom prst="rect">
            <a:avLst/>
          </a:prstGeom>
        </p:spPr>
      </p:pic>
      <p:sp>
        <p:nvSpPr>
          <p:cNvPr id="31" name="Text 22"/>
          <p:cNvSpPr/>
          <p:nvPr/>
        </p:nvSpPr>
        <p:spPr>
          <a:xfrm>
            <a:off x="6419088" y="4169664"/>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Twilio</a:t>
            </a:r>
            <a:endParaRPr lang="en-US" sz="1100" dirty="0"/>
          </a:p>
        </p:txBody>
      </p:sp>
      <p:sp>
        <p:nvSpPr>
          <p:cNvPr id="32" name="Shape 23"/>
          <p:cNvSpPr/>
          <p:nvPr/>
        </p:nvSpPr>
        <p:spPr>
          <a:xfrm>
            <a:off x="9162288" y="3255264"/>
            <a:ext cx="2724912" cy="1572768"/>
          </a:xfrm>
          <a:prstGeom prst="roundRect">
            <a:avLst>
              <a:gd name="adj" fmla="val 5233"/>
            </a:avLst>
          </a:prstGeom>
          <a:solidFill>
            <a:srgbClr val="EDF6F4"/>
          </a:solidFill>
          <a:ln w="12700">
            <a:solidFill>
              <a:srgbClr val="D3E9E5"/>
            </a:solidFill>
            <a:prstDash val="solid"/>
          </a:ln>
        </p:spPr>
      </p:sp>
      <p:sp>
        <p:nvSpPr>
          <p:cNvPr id="33" name="Shape 24"/>
          <p:cNvSpPr/>
          <p:nvPr/>
        </p:nvSpPr>
        <p:spPr>
          <a:xfrm>
            <a:off x="10241280" y="3456432"/>
            <a:ext cx="566928" cy="566928"/>
          </a:xfrm>
          <a:prstGeom prst="ellipse">
            <a:avLst/>
          </a:prstGeom>
          <a:solidFill>
            <a:srgbClr val="FFFFFF"/>
          </a:solidFill>
          <a:ln/>
        </p:spPr>
      </p:sp>
      <p:pic>
        <p:nvPicPr>
          <p:cNvPr id="34" name="Image 7" descr="preencoded.png"/>
          <p:cNvPicPr>
            <a:picLocks noChangeAspect="1"/>
          </p:cNvPicPr>
          <p:nvPr/>
        </p:nvPicPr>
        <p:blipFill>
          <a:blip r:embed="rId10"/>
          <a:stretch>
            <a:fillRect/>
          </a:stretch>
        </p:blipFill>
        <p:spPr>
          <a:xfrm>
            <a:off x="10360335" y="3575487"/>
            <a:ext cx="328818" cy="328818"/>
          </a:xfrm>
          <a:prstGeom prst="rect">
            <a:avLst/>
          </a:prstGeom>
        </p:spPr>
      </p:pic>
      <p:sp>
        <p:nvSpPr>
          <p:cNvPr id="35" name="Text 25"/>
          <p:cNvSpPr/>
          <p:nvPr/>
        </p:nvSpPr>
        <p:spPr>
          <a:xfrm>
            <a:off x="9290304" y="4169664"/>
            <a:ext cx="2468880" cy="566928"/>
          </a:xfrm>
          <a:prstGeom prst="rect">
            <a:avLst/>
          </a:prstGeom>
          <a:noFill/>
          <a:ln/>
        </p:spPr>
        <p:txBody>
          <a:bodyPr wrap="square" lIns="0" tIns="0" rIns="0" bIns="0" rtlCol="0" anchor="t"/>
          <a:lstStyle/>
          <a:p>
            <a:pPr marL="0" indent="0" algn="ctr">
              <a:lnSpc>
                <a:spcPct val="108000"/>
              </a:lnSpc>
              <a:buNone/>
            </a:pPr>
            <a:r>
              <a:rPr lang="en-US" sz="1100" b="1" dirty="0">
                <a:solidFill>
                  <a:srgbClr val="15302C"/>
                </a:solidFill>
                <a:latin typeface="Calibri" pitchFamily="34" charset="0"/>
                <a:ea typeface="Calibri" pitchFamily="34" charset="-122"/>
                <a:cs typeface="Calibri" pitchFamily="34" charset="-120"/>
              </a:rPr>
              <a:t>RESTful APIs</a:t>
            </a:r>
            <a:endParaRPr lang="en-US" sz="1100" dirty="0"/>
          </a:p>
        </p:txBody>
      </p:sp>
      <p:sp>
        <p:nvSpPr>
          <p:cNvPr id="37" name="Text 27"/>
          <p:cNvSpPr/>
          <p:nvPr/>
        </p:nvSpPr>
        <p:spPr>
          <a:xfrm>
            <a:off x="822960" y="5486400"/>
            <a:ext cx="10607040" cy="594360"/>
          </a:xfrm>
          <a:prstGeom prst="rect">
            <a:avLst/>
          </a:prstGeom>
          <a:noFill/>
          <a:ln/>
        </p:spPr>
        <p:txBody>
          <a:bodyPr wrap="square" lIns="0" tIns="0" rIns="0" bIns="0" rtlCol="0" anchor="ctr"/>
          <a:lstStyle/>
          <a:p>
            <a:pPr marL="0" indent="0" algn="ctr">
              <a:buNone/>
            </a:pPr>
            <a:r>
              <a:rPr lang="en-US" sz="1500" b="1" i="1" dirty="0">
                <a:solidFill>
                  <a:srgbClr val="07423D"/>
                </a:solidFill>
                <a:latin typeface="Cambria" pitchFamily="34" charset="0"/>
                <a:ea typeface="Cambria" pitchFamily="34" charset="-122"/>
                <a:cs typeface="Cambria" pitchFamily="34" charset="-120"/>
              </a:rPr>
              <a:t>A modern, secure full-stack toolchain connecting every module.</a:t>
            </a:r>
            <a:endParaRPr lang="en-US" sz="1500" dirty="0"/>
          </a:p>
        </p:txBody>
      </p:sp>
      <p:sp>
        <p:nvSpPr>
          <p:cNvPr id="38" name="Text 28"/>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54706B"/>
                </a:solidFill>
                <a:latin typeface="Calibri" pitchFamily="34" charset="0"/>
                <a:ea typeface="Calibri" pitchFamily="34" charset="-122"/>
                <a:cs typeface="Calibri" pitchFamily="34" charset="-120"/>
              </a:rPr>
              <a:t>Hospital Management &amp; Appointment System</a:t>
            </a:r>
            <a:endParaRPr lang="en-US" sz="900" dirty="0"/>
          </a:p>
        </p:txBody>
      </p:sp>
      <p:sp>
        <p:nvSpPr>
          <p:cNvPr id="39" name="Text 2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4706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1086</Words>
  <Application>Microsoft Office PowerPoint</Application>
  <PresentationFormat>Widescreen</PresentationFormat>
  <Paragraphs>154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Rahul Palavalasa</cp:lastModifiedBy>
  <cp:revision>2</cp:revision>
  <dcterms:created xsi:type="dcterms:W3CDTF">2026-08-19T09:21:16Z</dcterms:created>
  <dcterms:modified xsi:type="dcterms:W3CDTF">2026-08-19T10:04:46Z</dcterms:modified>
</cp:coreProperties>
</file>